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c7fe1607-41e3-9f9c-cb5f-2d00c1dbaada}">
          <p14:sldIdLst>
            <p14:sldId id="256"/>
            <p14:sldId id="257"/>
            <p14:sldId id="258"/>
          </p14:sldIdLst>
        </p14:section>
        <p14:section name="Análisis" id="{8f2cb931-a3e3-8649-048f-ed35295f0545}">
          <p14:sldIdLst>
            <p14:sldId id="259"/>
            <p14:sldId id="260"/>
            <p14:sldId id="261"/>
          </p14:sldIdLst>
        </p14:section>
        <p14:section name="Especificación" id="{63ec089a-df3c-083e-6165-85b74d9e069c}">
          <p14:sldIdLst>
            <p14:sldId id="262"/>
            <p14:sldId id="263"/>
            <p14:sldId id="264"/>
          </p14:sldIdLst>
        </p14:section>
        <p14:section name="Diseño y construcción" id="{a021d91d-94eb-3e67-f403-87e525ec724f}">
          <p14:sldIdLst>
            <p14:sldId id="265"/>
            <p14:sldId id="266"/>
          </p14:sldIdLst>
        </p14:section>
        <p14:section name="Demostración y cierre" id="{f06fcca4-3d43-5da5-8c3a-24856b234238}">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(0:45 min)
Buenos días. Somos el equipo de NexusFisi. Para el tema «Sistema Web Inteligente para la Gestión Integral de Servicios Universitarios» elegimos la Propuesta 4, TrámiteUni, y la adaptamos a nuestra propia facultad: la Facultad de Ingeniería de Sistemas e Informática de San Marcos, la FISI. Por eso el sistema se llama NexusFisi. Primero, Integrante 2 y yo explicaremos el análisis y el diseño; después, Integrante 3 e Integrante 4 mostrarán el sistema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(1:00 min)
Hoy, cuando un estudiante de la FISI necesita una constancia, una rectificación de matrícula o una convalidación, parte del trámite ya es virtual y parte sigue siendo presencial, pero no existe un lugar único. Identificamos tres causas. Primero, los canales están dispersos: correo institucional, formularios en línea y ventanilla. Segundo, el estudiante no sabe en qué oficina está su expediente ni en qué estado. Tercero, no hay trazabilidad: los adjuntos quedan repartidos en correos, los plazos no son visibles y no queda registro de quién hizo qué. La consecuencia es que el estudiante tiene que escribir o ir a la oficina para preguntar, el personal responde siempre las mismas consultas y la facultad no tiene datos de cuánto tarda cada trámite.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(1:00 min)
Nuestro objetivo general es digitalizar el registro, la revisión, la atención y la respuesta de los trámites académicos, con seguimiento transparente para el estudiante. Lo concretamos en cuatro objetivos específicos: un catálogo con los requisitos de cada trámite, un flujo de estados con historial, una bandeja con filtros para el personal, y mensajes y notificaciones asociados a cada expediente. Vale la pena porque beneficia a tres grupos: al estudiante, que sigue su trámite en línea desde un solo lugar; al personal, que trabaja desde una bandeja ordenada; y a la dirección, que gana visibilidad sobre los trámites.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(1:00 min)
El sistema tiene tres roles. El estudiante consulta el catálogo, registra solicitudes con documentos, corrige cuando le observan y sigue el avance. El personal administrativo cubre lo que el curso llama técnico y supervisor: evalúa, observa, asigna un responsable, atiende y responde. El administrador gestiona los tipos de trámite y ve los usuarios. Para diseñar pensamos en una persona concreta: Lucía, estudiante de séptimo ciclo de Ingeniería de Sistemas, que hace sus trámites desde el celular entre clases y laboratorios. Ella necesita saber qué requisitos presentar y en qué va su solicitud, sin escribir correos ni ir a la oficina.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(1:00 min)
Delimitamos el alcance para que sea viable. Entra en el MVP: el acceso de demostración por rol, un catálogo de seis trámites, el registro con adjuntos, el flujo de siete estados con historial, la bandeja con filtros, los mensajes y notificaciones, y la administración de tipos de trámite. Queda fuera: pagos, firma digital, integración con sistemas de la universidad y autenticación de producción. Y dejamos como deseable para las siguientes fases el asistente inteligente que oriente al estudiante, el plazo de subsanación y la derivación entre oficinas. La interfaz ya tiene un espacio reservado para el asistente, pero no hay ninguna IA conectada.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(1:15 min)
Estas son las reglas de negocio que el sistema hace cumplir. Una solicitud necesita tipo, asunto, descripción y al menos un documento. Solo se permiten los cambios de estado del flujo definido. Para observar, el personal tiene que escribir el motivo. Para resolver, primero debe registrar una respuesta. Y solo el estudiante dueño puede corregir su solicitud. Lo importante es que estas reglas no viven solo en la pantalla: están en la capa de datos y tienen pruebas automatizadas. En lo no funcional, el sistema es responsive, está completamente en español y usa formularios accesibles. Con esto le paso la palabra a Integrante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(1:15 min)
Gracias. Organizamos el trabajo en seis épicas, una por cada módulo obligatorio y una más de seguimiento y mensajes. Aquí ven las historias principales del backlog, escritas como «Como… quiero… para…». Las dividimos por flujo y por rol, no por tareas técnicas. Por ejemplo, el ciclo de observación lo partimos en dos historias: la HU04, en la que el personal observa, y la HU05, en la que el estudiante corrige. Cada una aporta valor por sí sola y se puede probar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(1:00 min)
Cada historia clave tiene criterios en formato Dado, Cuando, Entonces. Les muestro dos casos de error. En el primero, si el personal intenta observar una solicitud sin escribir el motivo, el sistema lo impide, muestra el mensaje y la solicitud no cambia de estado. En el segundo, no se puede marcar una solicitud como resuelta mientras no tenga una respuesta registrada. Estos escenarios no se quedaron en papel: están implementados y cubiertos por las pruebas automatizadas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(1:15 min)
Este es el ciclo de vida de una solicitud. Empieza como Registrada, pasa a En evaluación, luego a Asignada cuando se designa un responsable, después a En atención, Resuelta y, por último, Cerrada. Desde En evaluación o En atención, el personal puede observarla. Entonces el estudiante corrige y la solicitud vuelve a En evaluación. Cada cambio queda en el historial con quién lo hizo, cuándo y la nota correspondiente, y la otra parte recibe una notificación.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(1:15 min)
Arriba está cómo funciona hoy, en la Fase I. El frontend en React consume un servicio de datos local que guarda la información en el navegador. No simulamos ninguna API ni base de datos; lo decimos con claridad. Abajo está la Fase II: el mismo frontend llamará a una API REST hecha en Spring Boot, con MySQL como base de datos. Como todas las pantallas hablan solo con el servicio de datos, para integrar el backend basta con cambiar ese servicio por llamadas fetch a estos endpoints, sin rehacer las pantallas.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(1:15 min)
En números, el MVP tiene tres roles, siete estados, seis tipos de trámite y ocho pruebas automatizadas. Lo construimos con React y TypeScript, TanStack Router para la navegación, Tailwind y componentes accesibles de Radix para la interfaz, Zod para validar formularios y Vitest para las pruebas. Usamos dos herramientas de IA, y lo dejamos en nuestro registro de uso de IA: Lovable, para generar la base visual, y Claude Code, para revisar el proyecto, completar las pantallas que faltaban, reforzar las validaciones y escribir las pruebas. Seguimos la regla del curso: la IA propone y el equipo valida, con chequeo de tipos, pruebas y revisión manual por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(0:20 min)
Ahora lo van a ver funcionando. Integrante 3 hará de estudiante e Integrante 4 de personal administrativo, y recorrerán el flujo completo: registrar, revisar, observar, corregir, resolver y consultar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(0:45 min)
Para cerrar: hoy tenemos un frontend navegable y funcional que cubre el flujo completo con datos de demostración. Los siguientes pasos son construir la API en Spring Boot con MySQL, reemplazar el acceso de demostración por una autenticación real, incorporar el asistente que oriente al estudiante, agregar el plazo de subsanación y la derivación entre oficinas, y desplegar con Docker y CI/CD.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68680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29000"/>
            <a:ext cx="804672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NexusFisi · Avance del proyecto</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686800" cy="1280160"/>
          </a:xfrm>
          <a:prstGeom prst="rect">
            <a:avLst/>
          </a:prstGeom>
          <a:noFill/>
          <a:ln/>
        </p:spPr>
        <p:txBody>
          <a:bodyPr wrap="square" lIns="0" tIns="0" rIns="0" bIns="0" rtlCol="0" anchor="b"/>
          <a:lstStyle/>
          <a:p>
            <a:pPr algn="l" indent="0" marL="0">
              <a:buNone/>
            </a:pPr>
            <a:r>
              <a:rPr lang="en-US" sz="5400" b="1" dirty="0">
                <a:solidFill>
                  <a:schemeClr val="bg1"/>
                </a:solidFill>
              </a:rPr>
              <a:t>NexusFisi</a:t>
            </a:r>
            <a:endParaRPr lang="en-US" sz="5400" dirty="0"/>
          </a:p>
        </p:txBody>
      </p:sp>
      <p:sp>
        <p:nvSpPr>
          <p:cNvPr id="3" name="Text 0"/>
          <p:cNvSpPr/>
          <p:nvPr>
            <p:ph idx="101" type="body" hasCustomPrompt="1"/>
          </p:nvPr>
        </p:nvSpPr>
        <p:spPr>
          <a:xfrm>
            <a:off x="548640" y="3429000"/>
            <a:ext cx="8046720" cy="1097280"/>
          </a:xfrm>
          <a:prstGeom prst="rect">
            <a:avLst/>
          </a:prstGeom>
          <a:noFill/>
          <a:ln/>
        </p:spPr>
        <p:txBody>
          <a:bodyPr wrap="square" lIns="0" tIns="0" rIns="0" bIns="0" rtlCol="0" anchor="t"/>
          <a:lstStyle/>
          <a:p>
            <a:pPr indent="0" marL="0">
              <a:buNone/>
            </a:pPr>
            <a:r>
              <a:rPr lang="en-US" sz="2000" dirty="0">
                <a:solidFill>
                  <a:schemeClr val="bg2"/>
                </a:solidFill>
              </a:rPr>
              <a:t>Gestión de solicitudes y trámites académicos de la Facultad de Ingeniería de Sistemas e Informática (FISI) · UNMSM</a:t>
            </a:r>
            <a:endParaRPr lang="en-US" sz="2000" dirty="0"/>
          </a:p>
        </p:txBody>
      </p:sp>
      <p:sp>
        <p:nvSpPr>
          <p:cNvPr id="4" name="Text 2"/>
          <p:cNvSpPr txBox="1"/>
          <p:nvPr/>
        </p:nvSpPr>
        <p:spPr>
          <a:xfrm>
            <a:off x="548640" y="4800600"/>
            <a:ext cx="8229600" cy="548640"/>
          </a:xfrm>
          <a:prstGeom prst="rect">
            <a:avLst/>
          </a:prstGeom>
          <a:noFill/>
          <a:ln/>
        </p:spPr>
        <p:txBody>
          <a:bodyPr wrap="square" lIns="0" tIns="0" rIns="0" bIns="0" rtlCol="0" anchor="t"/>
          <a:lstStyle/>
          <a:p>
            <a:pPr indent="0" marL="0">
              <a:buNone/>
            </a:pPr>
            <a:r>
              <a:rPr lang="en-US" sz="1400" dirty="0">
                <a:solidFill>
                  <a:schemeClr val="accent1"/>
                </a:solidFill>
              </a:rPr>
              <a:t>Propuesta 4 «TrámiteUni», adaptada a la FISI · Tema: Sistema Web Inteligente para la Gestión Integral de Servicios Universitarios</a:t>
            </a:r>
            <a:endParaRPr lang="en-US" sz="1400" dirty="0"/>
          </a:p>
        </p:txBody>
      </p:sp>
      <p:sp>
        <p:nvSpPr>
          <p:cNvPr id="5" name="Text 3"/>
          <p:cNvSpPr txBox="1"/>
          <p:nvPr/>
        </p:nvSpPr>
        <p:spPr>
          <a:xfrm>
            <a:off x="548640" y="5760720"/>
            <a:ext cx="8229600" cy="365760"/>
          </a:xfrm>
          <a:prstGeom prst="rect">
            <a:avLst/>
          </a:prstGeom>
          <a:noFill/>
          <a:ln/>
        </p:spPr>
        <p:txBody>
          <a:bodyPr wrap="square" lIns="0" tIns="0" rIns="0" bIns="0" rtlCol="0" anchor="t"/>
          <a:lstStyle/>
          <a:p>
            <a:pPr indent="0" marL="0">
              <a:buNone/>
            </a:pPr>
            <a:r>
              <a:rPr lang="en-US" sz="1400" dirty="0">
                <a:solidFill>
                  <a:schemeClr val="bg1"/>
                </a:solidFill>
              </a:rPr>
              <a:t>Integrante 1  ·  Integrante 2  ·  Integrante 3  ·  Integrante 4</a:t>
            </a:r>
            <a:endParaRPr lang="en-US" sz="1400" dirty="0"/>
          </a:p>
        </p:txBody>
      </p:sp>
      <p:sp>
        <p:nvSpPr>
          <p:cNvPr id="6" name="logo-circle"/>
          <p:cNvSpPr/>
          <p:nvPr/>
        </p:nvSpPr>
        <p:spPr>
          <a:xfrm>
            <a:off x="9052560" y="1463040"/>
            <a:ext cx="2743200" cy="2743200"/>
          </a:xfrm>
          <a:prstGeom prst="ellipse">
            <a:avLst/>
          </a:prstGeom>
          <a:solidFill>
            <a:schemeClr val="accent1"/>
          </a:solidFill>
          <a:ln/>
        </p:spPr>
      </p:sp>
      <p:sp>
        <p:nvSpPr>
          <p:cNvPr id="7" name="Text 5"/>
          <p:cNvSpPr txBox="1"/>
          <p:nvPr/>
        </p:nvSpPr>
        <p:spPr>
          <a:xfrm>
            <a:off x="9052560" y="1463040"/>
            <a:ext cx="2743200" cy="2743200"/>
          </a:xfrm>
          <a:prstGeom prst="rect">
            <a:avLst/>
          </a:prstGeom>
          <a:noFill/>
          <a:ln/>
        </p:spPr>
        <p:txBody>
          <a:bodyPr wrap="square" lIns="0" tIns="0" rIns="0" bIns="0" rtlCol="0" anchor="ctr"/>
          <a:lstStyle/>
          <a:p>
            <a:pPr algn="ctr" indent="0" marL="0">
              <a:buNone/>
            </a:pPr>
            <a:r>
              <a:rPr lang="en-US" sz="8000" b="1" dirty="0">
                <a:solidFill>
                  <a:schemeClr val="bg1"/>
                </a:solidFill>
              </a:rPr>
              <a:t>NF</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Hoy un trámite pasa por demasiados canales</a:t>
            </a:r>
            <a:endParaRPr lang="en-US" sz="3400" dirty="0"/>
          </a:p>
        </p:txBody>
      </p:sp>
      <p:sp>
        <p:nvSpPr>
          <p:cNvPr id="3" name="Text 1"/>
          <p:cNvSpPr txBox="1"/>
          <p:nvPr/>
        </p:nvSpPr>
        <p:spPr>
          <a:xfrm>
            <a:off x="548640" y="1280160"/>
            <a:ext cx="10972800" cy="457200"/>
          </a:xfrm>
          <a:prstGeom prst="rect">
            <a:avLst/>
          </a:prstGeom>
          <a:noFill/>
          <a:ln/>
        </p:spPr>
        <p:txBody>
          <a:bodyPr wrap="square" lIns="0" tIns="0" rIns="0" bIns="0" rtlCol="0" anchor="t"/>
          <a:lstStyle/>
          <a:p>
            <a:pPr indent="0" marL="0">
              <a:buNone/>
            </a:pPr>
            <a:r>
              <a:rPr lang="en-US" sz="1600" dirty="0">
                <a:solidFill>
                  <a:schemeClr val="accent6"/>
                </a:solidFill>
              </a:rPr>
              <a:t>Parte del trámite ya es virtual y parte sigue siendo presencial, pero sin un lugar único. Identificamos tres causas:</a:t>
            </a:r>
            <a:endParaRPr lang="en-US" sz="1600" dirty="0"/>
          </a:p>
        </p:txBody>
      </p:sp>
      <p:sp>
        <p:nvSpPr>
          <p:cNvPr id="4" name="cause-0"/>
          <p:cNvSpPr/>
          <p:nvPr/>
        </p:nvSpPr>
        <p:spPr>
          <a:xfrm>
            <a:off x="548640" y="1920240"/>
            <a:ext cx="3474720" cy="2651760"/>
          </a:xfrm>
          <a:prstGeom prst="roundRect">
            <a:avLst>
              <a:gd name="adj" fmla="val 4138"/>
            </a:avLst>
          </a:prstGeom>
          <a:solidFill>
            <a:schemeClr val="bg2"/>
          </a:solidFill>
          <a:ln/>
        </p:spPr>
      </p:sp>
      <p:sp>
        <p:nvSpPr>
          <p:cNvPr id="5" name="circle-cause-0"/>
          <p:cNvSpPr/>
          <p:nvPr/>
        </p:nvSpPr>
        <p:spPr>
          <a:xfrm>
            <a:off x="868680" y="2194560"/>
            <a:ext cx="731520" cy="731520"/>
          </a:xfrm>
          <a:prstGeom prst="ellipse">
            <a:avLst/>
          </a:prstGeom>
          <a:solidFill>
            <a:schemeClr val="accent1"/>
          </a:solidFill>
          <a:ln/>
        </p:spPr>
      </p:sp>
      <p:pic>
        <p:nvPicPr>
          <p:cNvPr id="6" name="icon-cause-0" descr="LuMail">    </p:cNvPr>
          <p:cNvPicPr>
            <a:picLocks noChangeAspect="1"/>
          </p:cNvPicPr>
          <p:nvPr/>
        </p:nvPicPr>
        <p:blipFill>
          <a:blip r:embed="rId1"/>
          <a:stretch>
            <a:fillRect/>
          </a:stretch>
        </p:blipFill>
        <p:spPr>
          <a:xfrm>
            <a:off x="1044245" y="2370125"/>
            <a:ext cx="380390" cy="380390"/>
          </a:xfrm>
          <a:prstGeom prst="rect">
            <a:avLst/>
          </a:prstGeom>
        </p:spPr>
      </p:pic>
      <p:sp>
        <p:nvSpPr>
          <p:cNvPr id="7" name="Text 4"/>
          <p:cNvSpPr txBox="1"/>
          <p:nvPr/>
        </p:nvSpPr>
        <p:spPr>
          <a:xfrm>
            <a:off x="868680" y="3063240"/>
            <a:ext cx="2834640" cy="411480"/>
          </a:xfrm>
          <a:prstGeom prst="rect">
            <a:avLst/>
          </a:prstGeom>
          <a:noFill/>
          <a:ln/>
        </p:spPr>
        <p:txBody>
          <a:bodyPr wrap="square" lIns="0" tIns="0" rIns="0" bIns="0" rtlCol="0" anchor="t"/>
          <a:lstStyle/>
          <a:p>
            <a:pPr indent="0" marL="0">
              <a:buNone/>
            </a:pPr>
            <a:r>
              <a:rPr lang="en-US" sz="2000" b="1" dirty="0">
                <a:solidFill>
                  <a:schemeClr val="tx2"/>
                </a:solidFill>
              </a:rPr>
              <a:t>Canales dispersos</a:t>
            </a:r>
            <a:endParaRPr lang="en-US" sz="2000" dirty="0"/>
          </a:p>
        </p:txBody>
      </p:sp>
      <p:sp>
        <p:nvSpPr>
          <p:cNvPr id="8" name="Text 5"/>
          <p:cNvSpPr txBox="1"/>
          <p:nvPr/>
        </p:nvSpPr>
        <p:spPr>
          <a:xfrm>
            <a:off x="868680" y="3520440"/>
            <a:ext cx="2834640" cy="960120"/>
          </a:xfrm>
          <a:prstGeom prst="rect">
            <a:avLst/>
          </a:prstGeom>
          <a:noFill/>
          <a:ln/>
        </p:spPr>
        <p:txBody>
          <a:bodyPr wrap="square" lIns="0" tIns="0" rIns="0" bIns="0" rtlCol="0" anchor="t"/>
          <a:lstStyle/>
          <a:p>
            <a:pPr indent="0" marL="0">
              <a:buNone/>
            </a:pPr>
            <a:r>
              <a:rPr lang="en-US" sz="1400" dirty="0">
                <a:solidFill>
                  <a:schemeClr val="tx1"/>
                </a:solidFill>
              </a:rPr>
              <a:t>Correo institucional, formularios en línea y ventanilla: cada solicitud llega por un lado distinto.</a:t>
            </a:r>
            <a:endParaRPr lang="en-US" sz="1400" dirty="0"/>
          </a:p>
        </p:txBody>
      </p:sp>
      <p:sp>
        <p:nvSpPr>
          <p:cNvPr id="9" name="cause-1"/>
          <p:cNvSpPr/>
          <p:nvPr/>
        </p:nvSpPr>
        <p:spPr>
          <a:xfrm>
            <a:off x="4297680" y="1920240"/>
            <a:ext cx="3474720" cy="2651760"/>
          </a:xfrm>
          <a:prstGeom prst="roundRect">
            <a:avLst>
              <a:gd name="adj" fmla="val 4138"/>
            </a:avLst>
          </a:prstGeom>
          <a:solidFill>
            <a:schemeClr val="bg2"/>
          </a:solidFill>
          <a:ln/>
        </p:spPr>
      </p:sp>
      <p:sp>
        <p:nvSpPr>
          <p:cNvPr id="10" name="circle-cause-1"/>
          <p:cNvSpPr/>
          <p:nvPr/>
        </p:nvSpPr>
        <p:spPr>
          <a:xfrm>
            <a:off x="4617720" y="2194560"/>
            <a:ext cx="731520" cy="731520"/>
          </a:xfrm>
          <a:prstGeom prst="ellipse">
            <a:avLst/>
          </a:prstGeom>
          <a:solidFill>
            <a:schemeClr val="accent1"/>
          </a:solidFill>
          <a:ln/>
        </p:spPr>
      </p:sp>
      <p:pic>
        <p:nvPicPr>
          <p:cNvPr id="11" name="icon-cause-1" descr="LuMapPinOff">    </p:cNvPr>
          <p:cNvPicPr>
            <a:picLocks noChangeAspect="1"/>
          </p:cNvPicPr>
          <p:nvPr/>
        </p:nvPicPr>
        <p:blipFill>
          <a:blip r:embed="rId2"/>
          <a:stretch>
            <a:fillRect/>
          </a:stretch>
        </p:blipFill>
        <p:spPr>
          <a:xfrm>
            <a:off x="4793285" y="2370125"/>
            <a:ext cx="380390" cy="380390"/>
          </a:xfrm>
          <a:prstGeom prst="rect">
            <a:avLst/>
          </a:prstGeom>
        </p:spPr>
      </p:pic>
      <p:sp>
        <p:nvSpPr>
          <p:cNvPr id="12" name="Text 8"/>
          <p:cNvSpPr txBox="1"/>
          <p:nvPr/>
        </p:nvSpPr>
        <p:spPr>
          <a:xfrm>
            <a:off x="4617720" y="3063240"/>
            <a:ext cx="2834640" cy="411480"/>
          </a:xfrm>
          <a:prstGeom prst="rect">
            <a:avLst/>
          </a:prstGeom>
          <a:noFill/>
          <a:ln/>
        </p:spPr>
        <p:txBody>
          <a:bodyPr wrap="square" lIns="0" tIns="0" rIns="0" bIns="0" rtlCol="0" anchor="t"/>
          <a:lstStyle/>
          <a:p>
            <a:pPr indent="0" marL="0">
              <a:buNone/>
            </a:pPr>
            <a:r>
              <a:rPr lang="en-US" sz="2000" b="1" dirty="0">
                <a:solidFill>
                  <a:schemeClr val="tx2"/>
                </a:solidFill>
              </a:rPr>
              <a:t>Sin visibilidad</a:t>
            </a:r>
            <a:endParaRPr lang="en-US" sz="2000" dirty="0"/>
          </a:p>
        </p:txBody>
      </p:sp>
      <p:sp>
        <p:nvSpPr>
          <p:cNvPr id="13" name="Text 9"/>
          <p:cNvSpPr txBox="1"/>
          <p:nvPr/>
        </p:nvSpPr>
        <p:spPr>
          <a:xfrm>
            <a:off x="4617720" y="3520440"/>
            <a:ext cx="2834640" cy="960120"/>
          </a:xfrm>
          <a:prstGeom prst="rect">
            <a:avLst/>
          </a:prstGeom>
          <a:noFill/>
          <a:ln/>
        </p:spPr>
        <p:txBody>
          <a:bodyPr wrap="square" lIns="0" tIns="0" rIns="0" bIns="0" rtlCol="0" anchor="t"/>
          <a:lstStyle/>
          <a:p>
            <a:pPr indent="0" marL="0">
              <a:buNone/>
            </a:pPr>
            <a:r>
              <a:rPr lang="en-US" sz="1400" dirty="0">
                <a:solidFill>
                  <a:schemeClr val="tx1"/>
                </a:solidFill>
              </a:rPr>
              <a:t>El estudiante no sabe en qué oficina está su expediente ni en qué estado se encuentra.</a:t>
            </a:r>
            <a:endParaRPr lang="en-US" sz="1400" dirty="0"/>
          </a:p>
        </p:txBody>
      </p:sp>
      <p:sp>
        <p:nvSpPr>
          <p:cNvPr id="14" name="cause-2"/>
          <p:cNvSpPr/>
          <p:nvPr/>
        </p:nvSpPr>
        <p:spPr>
          <a:xfrm>
            <a:off x="8046720" y="1920240"/>
            <a:ext cx="3474720" cy="2651760"/>
          </a:xfrm>
          <a:prstGeom prst="roundRect">
            <a:avLst>
              <a:gd name="adj" fmla="val 4138"/>
            </a:avLst>
          </a:prstGeom>
          <a:solidFill>
            <a:schemeClr val="bg2"/>
          </a:solidFill>
          <a:ln/>
        </p:spPr>
      </p:sp>
      <p:sp>
        <p:nvSpPr>
          <p:cNvPr id="15" name="circle-cause-2"/>
          <p:cNvSpPr/>
          <p:nvPr/>
        </p:nvSpPr>
        <p:spPr>
          <a:xfrm>
            <a:off x="8366760" y="2194560"/>
            <a:ext cx="731520" cy="731520"/>
          </a:xfrm>
          <a:prstGeom prst="ellipse">
            <a:avLst/>
          </a:prstGeom>
          <a:solidFill>
            <a:schemeClr val="accent1"/>
          </a:solidFill>
          <a:ln/>
        </p:spPr>
      </p:sp>
      <p:pic>
        <p:nvPicPr>
          <p:cNvPr id="16" name="icon-cause-2" descr="LuFileX">    </p:cNvPr>
          <p:cNvPicPr>
            <a:picLocks noChangeAspect="1"/>
          </p:cNvPicPr>
          <p:nvPr/>
        </p:nvPicPr>
        <p:blipFill>
          <a:blip r:embed="rId3"/>
          <a:stretch>
            <a:fillRect/>
          </a:stretch>
        </p:blipFill>
        <p:spPr>
          <a:xfrm>
            <a:off x="8542325" y="2370125"/>
            <a:ext cx="380390" cy="380390"/>
          </a:xfrm>
          <a:prstGeom prst="rect">
            <a:avLst/>
          </a:prstGeom>
        </p:spPr>
      </p:pic>
      <p:sp>
        <p:nvSpPr>
          <p:cNvPr id="17" name="Text 12"/>
          <p:cNvSpPr txBox="1"/>
          <p:nvPr/>
        </p:nvSpPr>
        <p:spPr>
          <a:xfrm>
            <a:off x="8366760" y="3063240"/>
            <a:ext cx="2834640" cy="411480"/>
          </a:xfrm>
          <a:prstGeom prst="rect">
            <a:avLst/>
          </a:prstGeom>
          <a:noFill/>
          <a:ln/>
        </p:spPr>
        <p:txBody>
          <a:bodyPr wrap="square" lIns="0" tIns="0" rIns="0" bIns="0" rtlCol="0" anchor="t"/>
          <a:lstStyle/>
          <a:p>
            <a:pPr indent="0" marL="0">
              <a:buNone/>
            </a:pPr>
            <a:r>
              <a:rPr lang="en-US" sz="2000" b="1" dirty="0">
                <a:solidFill>
                  <a:schemeClr val="tx2"/>
                </a:solidFill>
              </a:rPr>
              <a:t>Sin trazabilidad</a:t>
            </a:r>
            <a:endParaRPr lang="en-US" sz="2000" dirty="0"/>
          </a:p>
        </p:txBody>
      </p:sp>
      <p:sp>
        <p:nvSpPr>
          <p:cNvPr id="18" name="Text 13"/>
          <p:cNvSpPr txBox="1"/>
          <p:nvPr/>
        </p:nvSpPr>
        <p:spPr>
          <a:xfrm>
            <a:off x="8366760" y="3520440"/>
            <a:ext cx="2834640" cy="960120"/>
          </a:xfrm>
          <a:prstGeom prst="rect">
            <a:avLst/>
          </a:prstGeom>
          <a:noFill/>
          <a:ln/>
        </p:spPr>
        <p:txBody>
          <a:bodyPr wrap="square" lIns="0" tIns="0" rIns="0" bIns="0" rtlCol="0" anchor="t"/>
          <a:lstStyle/>
          <a:p>
            <a:pPr indent="0" marL="0">
              <a:buNone/>
            </a:pPr>
            <a:r>
              <a:rPr lang="en-US" sz="1400" dirty="0">
                <a:solidFill>
                  <a:schemeClr val="tx1"/>
                </a:solidFill>
              </a:rPr>
              <a:t>Adjuntos repartidos en correos, plazos no visibles y ningún registro de quién hizo qué.</a:t>
            </a:r>
            <a:endParaRPr lang="en-US" sz="1400" dirty="0"/>
          </a:p>
        </p:txBody>
      </p:sp>
      <p:sp>
        <p:nvSpPr>
          <p:cNvPr id="19" name="consecuencia"/>
          <p:cNvSpPr/>
          <p:nvPr/>
        </p:nvSpPr>
        <p:spPr>
          <a:xfrm>
            <a:off x="548640" y="4892040"/>
            <a:ext cx="11064240" cy="1097280"/>
          </a:xfrm>
          <a:prstGeom prst="roundRect">
            <a:avLst>
              <a:gd name="adj" fmla="val 10000"/>
            </a:avLst>
          </a:prstGeom>
          <a:solidFill>
            <a:schemeClr val="tx2"/>
          </a:solidFill>
          <a:ln/>
        </p:spPr>
      </p:sp>
      <p:sp>
        <p:nvSpPr>
          <p:cNvPr id="20" name="Text 15"/>
          <p:cNvSpPr txBox="1"/>
          <p:nvPr/>
        </p:nvSpPr>
        <p:spPr>
          <a:xfrm>
            <a:off x="868680" y="4892040"/>
            <a:ext cx="10424160" cy="1097280"/>
          </a:xfrm>
          <a:prstGeom prst="rect">
            <a:avLst/>
          </a:prstGeom>
          <a:noFill/>
          <a:ln/>
        </p:spPr>
        <p:txBody>
          <a:bodyPr wrap="square" lIns="0" tIns="0" rIns="0" bIns="0" rtlCol="0" anchor="ctr"/>
          <a:lstStyle/>
          <a:p>
            <a:pPr indent="0" marL="0">
              <a:buNone/>
            </a:pPr>
            <a:r>
              <a:rPr lang="en-US" sz="1600" b="1" dirty="0">
                <a:solidFill>
                  <a:schemeClr val="accent1"/>
                </a:solidFill>
              </a:rPr>
              <a:t>Consecuencia: </a:t>
            </a:r>
            <a:pPr indent="0" marL="0">
              <a:buNone/>
            </a:pPr>
            <a:r>
              <a:rPr lang="en-US" sz="1600" dirty="0">
                <a:solidFill>
                  <a:schemeClr val="bg1"/>
                </a:solidFill>
              </a:rPr>
              <a:t>el estudiante escribe o va a la oficina a preguntar por su trámite, el personal responde siempre las mismas consultas y la facultad no tiene datos de cuánto tarda cada trámite.</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Objetivo: trámites digitales y transparentes</a:t>
            </a:r>
            <a:endParaRPr lang="en-US" sz="3400" dirty="0"/>
          </a:p>
        </p:txBody>
      </p:sp>
      <p:sp>
        <p:nvSpPr>
          <p:cNvPr id="3" name="objetivo"/>
          <p:cNvSpPr/>
          <p:nvPr/>
        </p:nvSpPr>
        <p:spPr>
          <a:xfrm>
            <a:off x="548640" y="1325880"/>
            <a:ext cx="5120640" cy="4663440"/>
          </a:xfrm>
          <a:prstGeom prst="roundRect">
            <a:avLst>
              <a:gd name="adj" fmla="val 2353"/>
            </a:avLst>
          </a:prstGeom>
          <a:solidFill>
            <a:schemeClr val="tx2"/>
          </a:solidFill>
          <a:ln/>
        </p:spPr>
      </p:sp>
      <p:sp>
        <p:nvSpPr>
          <p:cNvPr id="4" name="circle-target"/>
          <p:cNvSpPr/>
          <p:nvPr/>
        </p:nvSpPr>
        <p:spPr>
          <a:xfrm>
            <a:off x="914400" y="1645920"/>
            <a:ext cx="731520" cy="731520"/>
          </a:xfrm>
          <a:prstGeom prst="ellipse">
            <a:avLst/>
          </a:prstGeom>
          <a:solidFill>
            <a:schemeClr val="accent1"/>
          </a:solidFill>
          <a:ln/>
        </p:spPr>
      </p:sp>
      <p:pic>
        <p:nvPicPr>
          <p:cNvPr id="5" name="icon-target" descr="LuTarget">    </p:cNvPr>
          <p:cNvPicPr>
            <a:picLocks noChangeAspect="1"/>
          </p:cNvPicPr>
          <p:nvPr/>
        </p:nvPicPr>
        <p:blipFill>
          <a:blip r:embed="rId1"/>
          <a:stretch>
            <a:fillRect/>
          </a:stretch>
        </p:blipFill>
        <p:spPr>
          <a:xfrm>
            <a:off x="1089965" y="1821485"/>
            <a:ext cx="380390" cy="380390"/>
          </a:xfrm>
          <a:prstGeom prst="rect">
            <a:avLst/>
          </a:prstGeom>
        </p:spPr>
      </p:pic>
      <p:sp>
        <p:nvSpPr>
          <p:cNvPr id="6" name="Text 3"/>
          <p:cNvSpPr txBox="1"/>
          <p:nvPr/>
        </p:nvSpPr>
        <p:spPr>
          <a:xfrm>
            <a:off x="914400" y="2560320"/>
            <a:ext cx="4389120" cy="365760"/>
          </a:xfrm>
          <a:prstGeom prst="rect">
            <a:avLst/>
          </a:prstGeom>
          <a:noFill/>
          <a:ln/>
        </p:spPr>
        <p:txBody>
          <a:bodyPr wrap="square" lIns="0" tIns="0" rIns="0" bIns="0" rtlCol="0" anchor="t"/>
          <a:lstStyle/>
          <a:p>
            <a:pPr indent="0" marL="0">
              <a:buNone/>
            </a:pPr>
            <a:r>
              <a:rPr lang="en-US" sz="1400" b="1" dirty="0">
                <a:solidFill>
                  <a:schemeClr val="accent1"/>
                </a:solidFill>
              </a:rPr>
              <a:t>Objetivo general</a:t>
            </a:r>
            <a:endParaRPr lang="en-US" sz="1400" dirty="0"/>
          </a:p>
        </p:txBody>
      </p:sp>
      <p:sp>
        <p:nvSpPr>
          <p:cNvPr id="7" name="Text 4"/>
          <p:cNvSpPr txBox="1"/>
          <p:nvPr/>
        </p:nvSpPr>
        <p:spPr>
          <a:xfrm>
            <a:off x="914400" y="2971800"/>
            <a:ext cx="4389120" cy="2011680"/>
          </a:xfrm>
          <a:prstGeom prst="rect">
            <a:avLst/>
          </a:prstGeom>
          <a:noFill/>
          <a:ln/>
        </p:spPr>
        <p:txBody>
          <a:bodyPr wrap="square" lIns="0" tIns="0" rIns="0" bIns="0" rtlCol="0" anchor="t"/>
          <a:lstStyle/>
          <a:p>
            <a:pPr indent="0" marL="0">
              <a:buNone/>
            </a:pPr>
            <a:r>
              <a:rPr lang="en-US" sz="2200" i="1" dirty="0">
                <a:solidFill>
                  <a:schemeClr val="bg1"/>
                </a:solidFill>
              </a:rPr>
              <a:t>Digitalizar el registro, la revisión, la atención y la respuesta de los trámites académicos, con seguimiento transparente para el estudiante.</a:t>
            </a:r>
            <a:endParaRPr lang="en-US" sz="2200" dirty="0"/>
          </a:p>
        </p:txBody>
      </p:sp>
      <p:sp>
        <p:nvSpPr>
          <p:cNvPr id="8" name="Text 5"/>
          <p:cNvSpPr txBox="1"/>
          <p:nvPr/>
        </p:nvSpPr>
        <p:spPr>
          <a:xfrm>
            <a:off x="6126480" y="1325880"/>
            <a:ext cx="5486400" cy="365760"/>
          </a:xfrm>
          <a:prstGeom prst="rect">
            <a:avLst/>
          </a:prstGeom>
          <a:noFill/>
          <a:ln/>
        </p:spPr>
        <p:txBody>
          <a:bodyPr wrap="square" lIns="0" tIns="0" rIns="0" bIns="0" rtlCol="0" anchor="t"/>
          <a:lstStyle/>
          <a:p>
            <a:pPr indent="0" marL="0">
              <a:buNone/>
            </a:pPr>
            <a:r>
              <a:rPr lang="en-US" sz="1800" b="1" dirty="0">
                <a:solidFill>
                  <a:schemeClr val="tx2"/>
                </a:solidFill>
              </a:rPr>
              <a:t>Objetivos específicos</a:t>
            </a:r>
            <a:endParaRPr lang="en-US" sz="1800" dirty="0"/>
          </a:p>
        </p:txBody>
      </p:sp>
      <p:sp>
        <p:nvSpPr>
          <p:cNvPr id="9" name="circle-obj-0"/>
          <p:cNvSpPr/>
          <p:nvPr/>
        </p:nvSpPr>
        <p:spPr>
          <a:xfrm>
            <a:off x="6126480" y="1828800"/>
            <a:ext cx="457200" cy="457200"/>
          </a:xfrm>
          <a:prstGeom prst="ellipse">
            <a:avLst/>
          </a:prstGeom>
          <a:solidFill>
            <a:schemeClr val="accent1"/>
          </a:solidFill>
          <a:ln/>
        </p:spPr>
      </p:sp>
      <p:pic>
        <p:nvPicPr>
          <p:cNvPr id="10" name="icon-obj-0" descr="LuBookOpen">    </p:cNvPr>
          <p:cNvPicPr>
            <a:picLocks noChangeAspect="1"/>
          </p:cNvPicPr>
          <p:nvPr/>
        </p:nvPicPr>
        <p:blipFill>
          <a:blip r:embed="rId2"/>
          <a:stretch>
            <a:fillRect/>
          </a:stretch>
        </p:blipFill>
        <p:spPr>
          <a:xfrm>
            <a:off x="6236208" y="1938528"/>
            <a:ext cx="237744" cy="237744"/>
          </a:xfrm>
          <a:prstGeom prst="rect">
            <a:avLst/>
          </a:prstGeom>
        </p:spPr>
      </p:pic>
      <p:sp>
        <p:nvSpPr>
          <p:cNvPr id="11" name="Text 7"/>
          <p:cNvSpPr txBox="1"/>
          <p:nvPr/>
        </p:nvSpPr>
        <p:spPr>
          <a:xfrm>
            <a:off x="6766560" y="1828800"/>
            <a:ext cx="4846320" cy="457200"/>
          </a:xfrm>
          <a:prstGeom prst="rect">
            <a:avLst/>
          </a:prstGeom>
          <a:noFill/>
          <a:ln/>
        </p:spPr>
        <p:txBody>
          <a:bodyPr wrap="square" lIns="0" tIns="0" rIns="0" bIns="0" rtlCol="0" anchor="ctr"/>
          <a:lstStyle/>
          <a:p>
            <a:pPr indent="0" marL="0">
              <a:buNone/>
            </a:pPr>
            <a:r>
              <a:rPr lang="en-US" sz="1600" dirty="0">
                <a:solidFill>
                  <a:schemeClr val="tx1"/>
                </a:solidFill>
              </a:rPr>
              <a:t>Catálogo de trámites con requisitos visibles</a:t>
            </a:r>
            <a:endParaRPr lang="en-US" sz="1600" dirty="0"/>
          </a:p>
        </p:txBody>
      </p:sp>
      <p:sp>
        <p:nvSpPr>
          <p:cNvPr id="12" name="circle-obj-1"/>
          <p:cNvSpPr/>
          <p:nvPr/>
        </p:nvSpPr>
        <p:spPr>
          <a:xfrm>
            <a:off x="6126480" y="2450592"/>
            <a:ext cx="457200" cy="457200"/>
          </a:xfrm>
          <a:prstGeom prst="ellipse">
            <a:avLst/>
          </a:prstGeom>
          <a:solidFill>
            <a:schemeClr val="accent1"/>
          </a:solidFill>
          <a:ln/>
        </p:spPr>
      </p:sp>
      <p:pic>
        <p:nvPicPr>
          <p:cNvPr id="13" name="icon-obj-1" descr="LuGitBranch">    </p:cNvPr>
          <p:cNvPicPr>
            <a:picLocks noChangeAspect="1"/>
          </p:cNvPicPr>
          <p:nvPr/>
        </p:nvPicPr>
        <p:blipFill>
          <a:blip r:embed="rId3"/>
          <a:stretch>
            <a:fillRect/>
          </a:stretch>
        </p:blipFill>
        <p:spPr>
          <a:xfrm>
            <a:off x="6236208" y="2560320"/>
            <a:ext cx="237744" cy="237744"/>
          </a:xfrm>
          <a:prstGeom prst="rect">
            <a:avLst/>
          </a:prstGeom>
        </p:spPr>
      </p:pic>
      <p:sp>
        <p:nvSpPr>
          <p:cNvPr id="14" name="Text 9"/>
          <p:cNvSpPr txBox="1"/>
          <p:nvPr/>
        </p:nvSpPr>
        <p:spPr>
          <a:xfrm>
            <a:off x="6766560" y="2450592"/>
            <a:ext cx="4846320" cy="457200"/>
          </a:xfrm>
          <a:prstGeom prst="rect">
            <a:avLst/>
          </a:prstGeom>
          <a:noFill/>
          <a:ln/>
        </p:spPr>
        <p:txBody>
          <a:bodyPr wrap="square" lIns="0" tIns="0" rIns="0" bIns="0" rtlCol="0" anchor="ctr"/>
          <a:lstStyle/>
          <a:p>
            <a:pPr indent="0" marL="0">
              <a:buNone/>
            </a:pPr>
            <a:r>
              <a:rPr lang="en-US" sz="1600" dirty="0">
                <a:solidFill>
                  <a:schemeClr val="tx1"/>
                </a:solidFill>
              </a:rPr>
              <a:t>Flujo de estados con historial de cada cambio</a:t>
            </a:r>
            <a:endParaRPr lang="en-US" sz="1600" dirty="0"/>
          </a:p>
        </p:txBody>
      </p:sp>
      <p:sp>
        <p:nvSpPr>
          <p:cNvPr id="15" name="circle-obj-2"/>
          <p:cNvSpPr/>
          <p:nvPr/>
        </p:nvSpPr>
        <p:spPr>
          <a:xfrm>
            <a:off x="6126480" y="3072384"/>
            <a:ext cx="457200" cy="457200"/>
          </a:xfrm>
          <a:prstGeom prst="ellipse">
            <a:avLst/>
          </a:prstGeom>
          <a:solidFill>
            <a:schemeClr val="accent1"/>
          </a:solidFill>
          <a:ln/>
        </p:spPr>
      </p:sp>
      <p:pic>
        <p:nvPicPr>
          <p:cNvPr id="16" name="icon-obj-2" descr="LuInbox">    </p:cNvPr>
          <p:cNvPicPr>
            <a:picLocks noChangeAspect="1"/>
          </p:cNvPicPr>
          <p:nvPr/>
        </p:nvPicPr>
        <p:blipFill>
          <a:blip r:embed="rId4"/>
          <a:stretch>
            <a:fillRect/>
          </a:stretch>
        </p:blipFill>
        <p:spPr>
          <a:xfrm>
            <a:off x="6236208" y="3182112"/>
            <a:ext cx="237744" cy="237744"/>
          </a:xfrm>
          <a:prstGeom prst="rect">
            <a:avLst/>
          </a:prstGeom>
        </p:spPr>
      </p:pic>
      <p:sp>
        <p:nvSpPr>
          <p:cNvPr id="17" name="Text 11"/>
          <p:cNvSpPr txBox="1"/>
          <p:nvPr/>
        </p:nvSpPr>
        <p:spPr>
          <a:xfrm>
            <a:off x="6766560" y="3072384"/>
            <a:ext cx="4846320" cy="457200"/>
          </a:xfrm>
          <a:prstGeom prst="rect">
            <a:avLst/>
          </a:prstGeom>
          <a:noFill/>
          <a:ln/>
        </p:spPr>
        <p:txBody>
          <a:bodyPr wrap="square" lIns="0" tIns="0" rIns="0" bIns="0" rtlCol="0" anchor="ctr"/>
          <a:lstStyle/>
          <a:p>
            <a:pPr indent="0" marL="0">
              <a:buNone/>
            </a:pPr>
            <a:r>
              <a:rPr lang="en-US" sz="1600" dirty="0">
                <a:solidFill>
                  <a:schemeClr val="tx1"/>
                </a:solidFill>
              </a:rPr>
              <a:t>Bandeja con búsqueda y filtros para el personal</a:t>
            </a:r>
            <a:endParaRPr lang="en-US" sz="1600" dirty="0"/>
          </a:p>
        </p:txBody>
      </p:sp>
      <p:sp>
        <p:nvSpPr>
          <p:cNvPr id="18" name="circle-obj-3"/>
          <p:cNvSpPr/>
          <p:nvPr/>
        </p:nvSpPr>
        <p:spPr>
          <a:xfrm>
            <a:off x="6126480" y="3694176"/>
            <a:ext cx="457200" cy="457200"/>
          </a:xfrm>
          <a:prstGeom prst="ellipse">
            <a:avLst/>
          </a:prstGeom>
          <a:solidFill>
            <a:schemeClr val="accent1"/>
          </a:solidFill>
          <a:ln/>
        </p:spPr>
      </p:sp>
      <p:pic>
        <p:nvPicPr>
          <p:cNvPr id="19" name="icon-obj-3" descr="LuMessageSquare">    </p:cNvPr>
          <p:cNvPicPr>
            <a:picLocks noChangeAspect="1"/>
          </p:cNvPicPr>
          <p:nvPr/>
        </p:nvPicPr>
        <p:blipFill>
          <a:blip r:embed="rId5"/>
          <a:stretch>
            <a:fillRect/>
          </a:stretch>
        </p:blipFill>
        <p:spPr>
          <a:xfrm>
            <a:off x="6236208" y="3803904"/>
            <a:ext cx="237744" cy="237744"/>
          </a:xfrm>
          <a:prstGeom prst="rect">
            <a:avLst/>
          </a:prstGeom>
        </p:spPr>
      </p:pic>
      <p:sp>
        <p:nvSpPr>
          <p:cNvPr id="20" name="Text 13"/>
          <p:cNvSpPr txBox="1"/>
          <p:nvPr/>
        </p:nvSpPr>
        <p:spPr>
          <a:xfrm>
            <a:off x="6766560" y="3694176"/>
            <a:ext cx="4846320" cy="457200"/>
          </a:xfrm>
          <a:prstGeom prst="rect">
            <a:avLst/>
          </a:prstGeom>
          <a:noFill/>
          <a:ln/>
        </p:spPr>
        <p:txBody>
          <a:bodyPr wrap="square" lIns="0" tIns="0" rIns="0" bIns="0" rtlCol="0" anchor="ctr"/>
          <a:lstStyle/>
          <a:p>
            <a:pPr indent="0" marL="0">
              <a:buNone/>
            </a:pPr>
            <a:r>
              <a:rPr lang="en-US" sz="1600" dirty="0">
                <a:solidFill>
                  <a:schemeClr val="tx1"/>
                </a:solidFill>
              </a:rPr>
              <a:t>Mensajes y notificaciones por expediente</a:t>
            </a:r>
            <a:endParaRPr lang="en-US" sz="1600" dirty="0"/>
          </a:p>
        </p:txBody>
      </p:sp>
      <p:sp>
        <p:nvSpPr>
          <p:cNvPr id="21" name="Text 14"/>
          <p:cNvSpPr txBox="1"/>
          <p:nvPr/>
        </p:nvSpPr>
        <p:spPr>
          <a:xfrm>
            <a:off x="6126480" y="4434840"/>
            <a:ext cx="5486400" cy="365760"/>
          </a:xfrm>
          <a:prstGeom prst="rect">
            <a:avLst/>
          </a:prstGeom>
          <a:noFill/>
          <a:ln/>
        </p:spPr>
        <p:txBody>
          <a:bodyPr wrap="square" lIns="0" tIns="0" rIns="0" bIns="0" rtlCol="0" anchor="t"/>
          <a:lstStyle/>
          <a:p>
            <a:pPr indent="0" marL="0">
              <a:buNone/>
            </a:pPr>
            <a:r>
              <a:rPr lang="en-US" sz="1800" b="1" dirty="0">
                <a:solidFill>
                  <a:schemeClr val="tx2"/>
                </a:solidFill>
              </a:rPr>
              <a:t>¿A quién beneficia?</a:t>
            </a:r>
            <a:endParaRPr lang="en-US" sz="1800" dirty="0"/>
          </a:p>
        </p:txBody>
      </p:sp>
      <p:sp>
        <p:nvSpPr>
          <p:cNvPr id="22" name="ben-0"/>
          <p:cNvSpPr/>
          <p:nvPr/>
        </p:nvSpPr>
        <p:spPr>
          <a:xfrm>
            <a:off x="6126480" y="4892040"/>
            <a:ext cx="1737360" cy="1097280"/>
          </a:xfrm>
          <a:prstGeom prst="roundRect">
            <a:avLst>
              <a:gd name="adj" fmla="val 10000"/>
            </a:avLst>
          </a:prstGeom>
          <a:solidFill>
            <a:schemeClr val="bg2"/>
          </a:solidFill>
          <a:ln/>
        </p:spPr>
      </p:sp>
      <p:sp>
        <p:nvSpPr>
          <p:cNvPr id="23" name="Text 16"/>
          <p:cNvSpPr txBox="1"/>
          <p:nvPr/>
        </p:nvSpPr>
        <p:spPr>
          <a:xfrm>
            <a:off x="6263640" y="5029200"/>
            <a:ext cx="1463040" cy="365760"/>
          </a:xfrm>
          <a:prstGeom prst="rect">
            <a:avLst/>
          </a:prstGeom>
          <a:noFill/>
          <a:ln/>
        </p:spPr>
        <p:txBody>
          <a:bodyPr wrap="square" lIns="0" tIns="0" rIns="0" bIns="0" rtlCol="0" anchor="t"/>
          <a:lstStyle/>
          <a:p>
            <a:pPr indent="0" marL="0">
              <a:buNone/>
            </a:pPr>
            <a:r>
              <a:rPr lang="en-US" sz="1600" b="1" dirty="0">
                <a:solidFill>
                  <a:schemeClr val="accent1"/>
                </a:solidFill>
              </a:rPr>
              <a:t>Estudiantes</a:t>
            </a:r>
            <a:endParaRPr lang="en-US" sz="1600" dirty="0"/>
          </a:p>
        </p:txBody>
      </p:sp>
      <p:sp>
        <p:nvSpPr>
          <p:cNvPr id="24" name="Text 17"/>
          <p:cNvSpPr txBox="1"/>
          <p:nvPr/>
        </p:nvSpPr>
        <p:spPr>
          <a:xfrm>
            <a:off x="6263640" y="5394960"/>
            <a:ext cx="1463040" cy="457200"/>
          </a:xfrm>
          <a:prstGeom prst="rect">
            <a:avLst/>
          </a:prstGeom>
          <a:noFill/>
          <a:ln/>
        </p:spPr>
        <p:txBody>
          <a:bodyPr wrap="square" lIns="0" tIns="0" rIns="0" bIns="0" rtlCol="0" anchor="t"/>
          <a:lstStyle/>
          <a:p>
            <a:pPr indent="0" marL="0">
              <a:buNone/>
            </a:pPr>
            <a:r>
              <a:rPr lang="en-US" sz="1300" dirty="0">
                <a:solidFill>
                  <a:schemeClr val="accent6"/>
                </a:solidFill>
              </a:rPr>
              <a:t>seguimiento en línea</a:t>
            </a:r>
            <a:endParaRPr lang="en-US" sz="1300" dirty="0"/>
          </a:p>
        </p:txBody>
      </p:sp>
      <p:sp>
        <p:nvSpPr>
          <p:cNvPr id="25" name="ben-1"/>
          <p:cNvSpPr/>
          <p:nvPr/>
        </p:nvSpPr>
        <p:spPr>
          <a:xfrm>
            <a:off x="8001000" y="4892040"/>
            <a:ext cx="1737360" cy="1097280"/>
          </a:xfrm>
          <a:prstGeom prst="roundRect">
            <a:avLst>
              <a:gd name="adj" fmla="val 10000"/>
            </a:avLst>
          </a:prstGeom>
          <a:solidFill>
            <a:schemeClr val="bg2"/>
          </a:solidFill>
          <a:ln/>
        </p:spPr>
      </p:sp>
      <p:sp>
        <p:nvSpPr>
          <p:cNvPr id="26" name="Text 19"/>
          <p:cNvSpPr txBox="1"/>
          <p:nvPr/>
        </p:nvSpPr>
        <p:spPr>
          <a:xfrm>
            <a:off x="8138160" y="5029200"/>
            <a:ext cx="1463040" cy="365760"/>
          </a:xfrm>
          <a:prstGeom prst="rect">
            <a:avLst/>
          </a:prstGeom>
          <a:noFill/>
          <a:ln/>
        </p:spPr>
        <p:txBody>
          <a:bodyPr wrap="square" lIns="0" tIns="0" rIns="0" bIns="0" rtlCol="0" anchor="t"/>
          <a:lstStyle/>
          <a:p>
            <a:pPr indent="0" marL="0">
              <a:buNone/>
            </a:pPr>
            <a:r>
              <a:rPr lang="en-US" sz="1600" b="1" dirty="0">
                <a:solidFill>
                  <a:schemeClr val="accent1"/>
                </a:solidFill>
              </a:rPr>
              <a:t>Personal</a:t>
            </a:r>
            <a:endParaRPr lang="en-US" sz="1600" dirty="0"/>
          </a:p>
        </p:txBody>
      </p:sp>
      <p:sp>
        <p:nvSpPr>
          <p:cNvPr id="27" name="Text 20"/>
          <p:cNvSpPr txBox="1"/>
          <p:nvPr/>
        </p:nvSpPr>
        <p:spPr>
          <a:xfrm>
            <a:off x="8138160" y="5394960"/>
            <a:ext cx="1463040" cy="457200"/>
          </a:xfrm>
          <a:prstGeom prst="rect">
            <a:avLst/>
          </a:prstGeom>
          <a:noFill/>
          <a:ln/>
        </p:spPr>
        <p:txBody>
          <a:bodyPr wrap="square" lIns="0" tIns="0" rIns="0" bIns="0" rtlCol="0" anchor="t"/>
          <a:lstStyle/>
          <a:p>
            <a:pPr indent="0" marL="0">
              <a:buNone/>
            </a:pPr>
            <a:r>
              <a:rPr lang="en-US" sz="1300" dirty="0">
                <a:solidFill>
                  <a:schemeClr val="accent6"/>
                </a:solidFill>
              </a:rPr>
              <a:t>bandeja ordenada</a:t>
            </a:r>
            <a:endParaRPr lang="en-US" sz="1300" dirty="0"/>
          </a:p>
        </p:txBody>
      </p:sp>
      <p:sp>
        <p:nvSpPr>
          <p:cNvPr id="28" name="ben-2"/>
          <p:cNvSpPr/>
          <p:nvPr/>
        </p:nvSpPr>
        <p:spPr>
          <a:xfrm>
            <a:off x="9875520" y="4892040"/>
            <a:ext cx="1737360" cy="1097280"/>
          </a:xfrm>
          <a:prstGeom prst="roundRect">
            <a:avLst>
              <a:gd name="adj" fmla="val 10000"/>
            </a:avLst>
          </a:prstGeom>
          <a:solidFill>
            <a:schemeClr val="bg2"/>
          </a:solidFill>
          <a:ln/>
        </p:spPr>
      </p:sp>
      <p:sp>
        <p:nvSpPr>
          <p:cNvPr id="29" name="Text 22"/>
          <p:cNvSpPr txBox="1"/>
          <p:nvPr/>
        </p:nvSpPr>
        <p:spPr>
          <a:xfrm>
            <a:off x="10012680" y="5029200"/>
            <a:ext cx="1463040" cy="365760"/>
          </a:xfrm>
          <a:prstGeom prst="rect">
            <a:avLst/>
          </a:prstGeom>
          <a:noFill/>
          <a:ln/>
        </p:spPr>
        <p:txBody>
          <a:bodyPr wrap="square" lIns="0" tIns="0" rIns="0" bIns="0" rtlCol="0" anchor="t"/>
          <a:lstStyle/>
          <a:p>
            <a:pPr indent="0" marL="0">
              <a:buNone/>
            </a:pPr>
            <a:r>
              <a:rPr lang="en-US" sz="1600" b="1" dirty="0">
                <a:solidFill>
                  <a:schemeClr val="accent1"/>
                </a:solidFill>
              </a:rPr>
              <a:t>Dirección</a:t>
            </a:r>
            <a:endParaRPr lang="en-US" sz="1600" dirty="0"/>
          </a:p>
        </p:txBody>
      </p:sp>
      <p:sp>
        <p:nvSpPr>
          <p:cNvPr id="30" name="Text 23"/>
          <p:cNvSpPr txBox="1"/>
          <p:nvPr/>
        </p:nvSpPr>
        <p:spPr>
          <a:xfrm>
            <a:off x="10012680" y="5394960"/>
            <a:ext cx="1463040" cy="457200"/>
          </a:xfrm>
          <a:prstGeom prst="rect">
            <a:avLst/>
          </a:prstGeom>
          <a:noFill/>
          <a:ln/>
        </p:spPr>
        <p:txBody>
          <a:bodyPr wrap="square" lIns="0" tIns="0" rIns="0" bIns="0" rtlCol="0" anchor="t"/>
          <a:lstStyle/>
          <a:p>
            <a:pPr indent="0" marL="0">
              <a:buNone/>
            </a:pPr>
            <a:r>
              <a:rPr lang="en-US" sz="1300" dirty="0">
                <a:solidFill>
                  <a:schemeClr val="accent6"/>
                </a:solidFill>
              </a:rPr>
              <a:t>visibilidad de plazos</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Tres roles, una persona en el centro</a:t>
            </a:r>
            <a:endParaRPr lang="en-US" sz="3400" dirty="0"/>
          </a:p>
        </p:txBody>
      </p:sp>
      <p:sp>
        <p:nvSpPr>
          <p:cNvPr id="3" name="role-0"/>
          <p:cNvSpPr/>
          <p:nvPr/>
        </p:nvSpPr>
        <p:spPr>
          <a:xfrm>
            <a:off x="548640" y="1325880"/>
            <a:ext cx="3474720" cy="2514600"/>
          </a:xfrm>
          <a:prstGeom prst="roundRect">
            <a:avLst>
              <a:gd name="adj" fmla="val 4364"/>
            </a:avLst>
          </a:prstGeom>
          <a:solidFill>
            <a:schemeClr val="bg2"/>
          </a:solidFill>
          <a:ln/>
        </p:spPr>
      </p:sp>
      <p:sp>
        <p:nvSpPr>
          <p:cNvPr id="4" name="circle-role-0"/>
          <p:cNvSpPr/>
          <p:nvPr/>
        </p:nvSpPr>
        <p:spPr>
          <a:xfrm>
            <a:off x="868680" y="1554480"/>
            <a:ext cx="685800" cy="685800"/>
          </a:xfrm>
          <a:prstGeom prst="ellipse">
            <a:avLst/>
          </a:prstGeom>
          <a:solidFill>
            <a:schemeClr val="accent1"/>
          </a:solidFill>
          <a:ln/>
        </p:spPr>
      </p:sp>
      <p:pic>
        <p:nvPicPr>
          <p:cNvPr id="5" name="icon-role-0" descr="LuGraduationCap">    </p:cNvPr>
          <p:cNvPicPr>
            <a:picLocks noChangeAspect="1"/>
          </p:cNvPicPr>
          <p:nvPr/>
        </p:nvPicPr>
        <p:blipFill>
          <a:blip r:embed="rId1"/>
          <a:stretch>
            <a:fillRect/>
          </a:stretch>
        </p:blipFill>
        <p:spPr>
          <a:xfrm>
            <a:off x="1033272" y="1719072"/>
            <a:ext cx="356616" cy="356616"/>
          </a:xfrm>
          <a:prstGeom prst="rect">
            <a:avLst/>
          </a:prstGeom>
        </p:spPr>
      </p:pic>
      <p:sp>
        <p:nvSpPr>
          <p:cNvPr id="6" name="Text 3"/>
          <p:cNvSpPr txBox="1"/>
          <p:nvPr/>
        </p:nvSpPr>
        <p:spPr>
          <a:xfrm>
            <a:off x="1691640" y="155448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Estudiante</a:t>
            </a:r>
            <a:endParaRPr lang="en-US" sz="1800" dirty="0"/>
          </a:p>
        </p:txBody>
      </p:sp>
      <p:sp>
        <p:nvSpPr>
          <p:cNvPr id="7" name="Text 4"/>
          <p:cNvSpPr txBox="1"/>
          <p:nvPr/>
        </p:nvSpPr>
        <p:spPr>
          <a:xfrm>
            <a:off x="868680" y="2423160"/>
            <a:ext cx="2834640" cy="1325880"/>
          </a:xfrm>
          <a:prstGeom prst="rect">
            <a:avLst/>
          </a:prstGeom>
          <a:noFill/>
          <a:ln/>
        </p:spPr>
        <p:txBody>
          <a:bodyPr wrap="square" lIns="0" tIns="0" rIns="0" bIns="0" rtlCol="0" anchor="t"/>
          <a:lstStyle/>
          <a:p>
            <a:pPr indent="0" marL="0">
              <a:buNone/>
            </a:pPr>
            <a:r>
              <a:rPr lang="en-US" sz="1400" dirty="0">
                <a:solidFill>
                  <a:schemeClr val="tx1"/>
                </a:solidFill>
              </a:rPr>
              <a:t>Consulta el catálogo, registra solicitudes con documentos, corrige observaciones y sigue el avance.</a:t>
            </a:r>
            <a:endParaRPr lang="en-US" sz="1400" dirty="0"/>
          </a:p>
        </p:txBody>
      </p:sp>
      <p:sp>
        <p:nvSpPr>
          <p:cNvPr id="8" name="role-1"/>
          <p:cNvSpPr/>
          <p:nvPr/>
        </p:nvSpPr>
        <p:spPr>
          <a:xfrm>
            <a:off x="4297680" y="1325880"/>
            <a:ext cx="3474720" cy="2514600"/>
          </a:xfrm>
          <a:prstGeom prst="roundRect">
            <a:avLst>
              <a:gd name="adj" fmla="val 4364"/>
            </a:avLst>
          </a:prstGeom>
          <a:solidFill>
            <a:schemeClr val="bg2"/>
          </a:solidFill>
          <a:ln/>
        </p:spPr>
      </p:sp>
      <p:sp>
        <p:nvSpPr>
          <p:cNvPr id="9" name="circle-role-1"/>
          <p:cNvSpPr/>
          <p:nvPr/>
        </p:nvSpPr>
        <p:spPr>
          <a:xfrm>
            <a:off x="4617720" y="1554480"/>
            <a:ext cx="685800" cy="685800"/>
          </a:xfrm>
          <a:prstGeom prst="ellipse">
            <a:avLst/>
          </a:prstGeom>
          <a:solidFill>
            <a:schemeClr val="accent1"/>
          </a:solidFill>
          <a:ln/>
        </p:spPr>
      </p:sp>
      <p:pic>
        <p:nvPicPr>
          <p:cNvPr id="10" name="icon-role-1" descr="LuBriefcase">    </p:cNvPr>
          <p:cNvPicPr>
            <a:picLocks noChangeAspect="1"/>
          </p:cNvPicPr>
          <p:nvPr/>
        </p:nvPicPr>
        <p:blipFill>
          <a:blip r:embed="rId2"/>
          <a:stretch>
            <a:fillRect/>
          </a:stretch>
        </p:blipFill>
        <p:spPr>
          <a:xfrm>
            <a:off x="4782312" y="1719072"/>
            <a:ext cx="356616" cy="356616"/>
          </a:xfrm>
          <a:prstGeom prst="rect">
            <a:avLst/>
          </a:prstGeom>
        </p:spPr>
      </p:pic>
      <p:sp>
        <p:nvSpPr>
          <p:cNvPr id="11" name="Text 7"/>
          <p:cNvSpPr txBox="1"/>
          <p:nvPr/>
        </p:nvSpPr>
        <p:spPr>
          <a:xfrm>
            <a:off x="5440680" y="155448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Personal administrativo</a:t>
            </a:r>
            <a:endParaRPr lang="en-US" sz="1800" dirty="0"/>
          </a:p>
        </p:txBody>
      </p:sp>
      <p:sp>
        <p:nvSpPr>
          <p:cNvPr id="12" name="Text 8"/>
          <p:cNvSpPr txBox="1"/>
          <p:nvPr/>
        </p:nvSpPr>
        <p:spPr>
          <a:xfrm>
            <a:off x="4617720" y="2423160"/>
            <a:ext cx="2834640" cy="1325880"/>
          </a:xfrm>
          <a:prstGeom prst="rect">
            <a:avLst/>
          </a:prstGeom>
          <a:noFill/>
          <a:ln/>
        </p:spPr>
        <p:txBody>
          <a:bodyPr wrap="square" lIns="0" tIns="0" rIns="0" bIns="0" rtlCol="0" anchor="t"/>
          <a:lstStyle/>
          <a:p>
            <a:pPr indent="0" marL="0">
              <a:buNone/>
            </a:pPr>
            <a:r>
              <a:rPr lang="en-US" sz="1400" dirty="0">
                <a:solidFill>
                  <a:schemeClr val="tx1"/>
                </a:solidFill>
              </a:rPr>
              <a:t>Evalúa, observa, asigna responsable, atiende y responde. Equivale a técnico + supervisor.</a:t>
            </a:r>
            <a:endParaRPr lang="en-US" sz="1400" dirty="0"/>
          </a:p>
        </p:txBody>
      </p:sp>
      <p:sp>
        <p:nvSpPr>
          <p:cNvPr id="13" name="role-2"/>
          <p:cNvSpPr/>
          <p:nvPr/>
        </p:nvSpPr>
        <p:spPr>
          <a:xfrm>
            <a:off x="8046720" y="1325880"/>
            <a:ext cx="3474720" cy="2514600"/>
          </a:xfrm>
          <a:prstGeom prst="roundRect">
            <a:avLst>
              <a:gd name="adj" fmla="val 4364"/>
            </a:avLst>
          </a:prstGeom>
          <a:solidFill>
            <a:schemeClr val="bg2"/>
          </a:solidFill>
          <a:ln/>
        </p:spPr>
      </p:sp>
      <p:sp>
        <p:nvSpPr>
          <p:cNvPr id="14" name="circle-role-2"/>
          <p:cNvSpPr/>
          <p:nvPr/>
        </p:nvSpPr>
        <p:spPr>
          <a:xfrm>
            <a:off x="8366760" y="1554480"/>
            <a:ext cx="685800" cy="685800"/>
          </a:xfrm>
          <a:prstGeom prst="ellipse">
            <a:avLst/>
          </a:prstGeom>
          <a:solidFill>
            <a:schemeClr val="accent1"/>
          </a:solidFill>
          <a:ln/>
        </p:spPr>
      </p:sp>
      <p:pic>
        <p:nvPicPr>
          <p:cNvPr id="15" name="icon-role-2" descr="LuSettings">    </p:cNvPr>
          <p:cNvPicPr>
            <a:picLocks noChangeAspect="1"/>
          </p:cNvPicPr>
          <p:nvPr/>
        </p:nvPicPr>
        <p:blipFill>
          <a:blip r:embed="rId3"/>
          <a:stretch>
            <a:fillRect/>
          </a:stretch>
        </p:blipFill>
        <p:spPr>
          <a:xfrm>
            <a:off x="8531352" y="1719072"/>
            <a:ext cx="356616" cy="356616"/>
          </a:xfrm>
          <a:prstGeom prst="rect">
            <a:avLst/>
          </a:prstGeom>
        </p:spPr>
      </p:pic>
      <p:sp>
        <p:nvSpPr>
          <p:cNvPr id="16" name="Text 11"/>
          <p:cNvSpPr txBox="1"/>
          <p:nvPr/>
        </p:nvSpPr>
        <p:spPr>
          <a:xfrm>
            <a:off x="9189720" y="155448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Administrador</a:t>
            </a:r>
            <a:endParaRPr lang="en-US" sz="1800" dirty="0"/>
          </a:p>
        </p:txBody>
      </p:sp>
      <p:sp>
        <p:nvSpPr>
          <p:cNvPr id="17" name="Text 12"/>
          <p:cNvSpPr txBox="1"/>
          <p:nvPr/>
        </p:nvSpPr>
        <p:spPr>
          <a:xfrm>
            <a:off x="8366760" y="2423160"/>
            <a:ext cx="2834640" cy="1325880"/>
          </a:xfrm>
          <a:prstGeom prst="rect">
            <a:avLst/>
          </a:prstGeom>
          <a:noFill/>
          <a:ln/>
        </p:spPr>
        <p:txBody>
          <a:bodyPr wrap="square" lIns="0" tIns="0" rIns="0" bIns="0" rtlCol="0" anchor="t"/>
          <a:lstStyle/>
          <a:p>
            <a:pPr indent="0" marL="0">
              <a:buNone/>
            </a:pPr>
            <a:r>
              <a:rPr lang="en-US" sz="1400" dirty="0">
                <a:solidFill>
                  <a:schemeClr val="tx1"/>
                </a:solidFill>
              </a:rPr>
              <a:t>Gestiona los tipos de trámite y consulta los usuarios de demostración.</a:t>
            </a:r>
            <a:endParaRPr lang="en-US" sz="1400" dirty="0"/>
          </a:p>
        </p:txBody>
      </p:sp>
      <p:sp>
        <p:nvSpPr>
          <p:cNvPr id="18" name="persona"/>
          <p:cNvSpPr/>
          <p:nvPr/>
        </p:nvSpPr>
        <p:spPr>
          <a:xfrm>
            <a:off x="548640" y="4114800"/>
            <a:ext cx="11064240" cy="1920240"/>
          </a:xfrm>
          <a:prstGeom prst="roundRect">
            <a:avLst>
              <a:gd name="adj" fmla="val 5714"/>
            </a:avLst>
          </a:prstGeom>
          <a:solidFill>
            <a:schemeClr val="tx2"/>
          </a:solidFill>
          <a:ln/>
        </p:spPr>
      </p:sp>
      <p:sp>
        <p:nvSpPr>
          <p:cNvPr id="19" name="circle-persona"/>
          <p:cNvSpPr/>
          <p:nvPr/>
        </p:nvSpPr>
        <p:spPr>
          <a:xfrm>
            <a:off x="914400" y="4434840"/>
            <a:ext cx="1097280" cy="1097280"/>
          </a:xfrm>
          <a:prstGeom prst="ellipse">
            <a:avLst/>
          </a:prstGeom>
          <a:solidFill>
            <a:schemeClr val="accent1"/>
          </a:solidFill>
          <a:ln/>
        </p:spPr>
      </p:sp>
      <p:pic>
        <p:nvPicPr>
          <p:cNvPr id="20" name="icon-persona" descr="LuSmartphone">    </p:cNvPr>
          <p:cNvPicPr>
            <a:picLocks noChangeAspect="1"/>
          </p:cNvPicPr>
          <p:nvPr/>
        </p:nvPicPr>
        <p:blipFill>
          <a:blip r:embed="rId4"/>
          <a:stretch>
            <a:fillRect/>
          </a:stretch>
        </p:blipFill>
        <p:spPr>
          <a:xfrm>
            <a:off x="1177747" y="4698187"/>
            <a:ext cx="570586" cy="570586"/>
          </a:xfrm>
          <a:prstGeom prst="rect">
            <a:avLst/>
          </a:prstGeom>
        </p:spPr>
      </p:pic>
      <p:sp>
        <p:nvSpPr>
          <p:cNvPr id="21" name="Text 15"/>
          <p:cNvSpPr txBox="1"/>
          <p:nvPr/>
        </p:nvSpPr>
        <p:spPr>
          <a:xfrm>
            <a:off x="2286000" y="4343400"/>
            <a:ext cx="8961120" cy="457200"/>
          </a:xfrm>
          <a:prstGeom prst="rect">
            <a:avLst/>
          </a:prstGeom>
          <a:noFill/>
          <a:ln/>
        </p:spPr>
        <p:txBody>
          <a:bodyPr wrap="square" lIns="0" tIns="0" rIns="0" bIns="0" rtlCol="0" anchor="t"/>
          <a:lstStyle/>
          <a:p>
            <a:pPr indent="0" marL="0">
              <a:buNone/>
            </a:pPr>
            <a:r>
              <a:rPr lang="en-US" sz="2000" b="1" dirty="0">
                <a:solidFill>
                  <a:schemeClr val="bg1"/>
                </a:solidFill>
              </a:rPr>
              <a:t>Persona UX · Lucía, 21 años, Ing. de Sistemas, VII ciclo</a:t>
            </a:r>
            <a:endParaRPr lang="en-US" sz="2000" dirty="0"/>
          </a:p>
        </p:txBody>
      </p:sp>
      <p:sp>
        <p:nvSpPr>
          <p:cNvPr id="22" name="Text 16"/>
          <p:cNvSpPr txBox="1"/>
          <p:nvPr/>
        </p:nvSpPr>
        <p:spPr>
          <a:xfrm>
            <a:off x="2286000" y="4846320"/>
            <a:ext cx="8961120" cy="1005840"/>
          </a:xfrm>
          <a:prstGeom prst="rect">
            <a:avLst/>
          </a:prstGeom>
          <a:noFill/>
          <a:ln/>
        </p:spPr>
        <p:txBody>
          <a:bodyPr wrap="square" lIns="0" tIns="0" rIns="0" bIns="0" rtlCol="0" anchor="t"/>
          <a:lstStyle/>
          <a:p>
            <a:pPr indent="0" marL="0">
              <a:buNone/>
            </a:pPr>
            <a:r>
              <a:rPr lang="en-US" sz="1600" dirty="0">
                <a:solidFill>
                  <a:schemeClr val="bg2"/>
                </a:solidFill>
              </a:rPr>
              <a:t>Hace sus trámites desde el celular entre clases y laboratorios. Necesita saber qué requisitos presentar y en qué va su solicitud, sin escribir correos ni ir a la oficina.</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Alcance: qué entra y qué no</a:t>
            </a:r>
            <a:endParaRPr lang="en-US" sz="3400" dirty="0"/>
          </a:p>
        </p:txBody>
      </p:sp>
      <p:sp>
        <p:nvSpPr>
          <p:cNvPr id="3" name="scope-0"/>
          <p:cNvSpPr/>
          <p:nvPr/>
        </p:nvSpPr>
        <p:spPr>
          <a:xfrm>
            <a:off x="548640" y="1325880"/>
            <a:ext cx="3474720" cy="4709160"/>
          </a:xfrm>
          <a:prstGeom prst="roundRect">
            <a:avLst>
              <a:gd name="adj" fmla="val 3158"/>
            </a:avLst>
          </a:prstGeom>
          <a:solidFill>
            <a:schemeClr val="bg2"/>
          </a:solidFill>
          <a:ln/>
        </p:spPr>
      </p:sp>
      <p:sp>
        <p:nvSpPr>
          <p:cNvPr id="4" name="circle-scope-0"/>
          <p:cNvSpPr/>
          <p:nvPr/>
        </p:nvSpPr>
        <p:spPr>
          <a:xfrm>
            <a:off x="868680" y="1554480"/>
            <a:ext cx="548640" cy="548640"/>
          </a:xfrm>
          <a:prstGeom prst="ellipse">
            <a:avLst/>
          </a:prstGeom>
          <a:solidFill>
            <a:schemeClr val="accent4"/>
          </a:solidFill>
          <a:ln/>
        </p:spPr>
      </p:sp>
      <p:pic>
        <p:nvPicPr>
          <p:cNvPr id="5" name="icon-scope-0" descr="LuCircleCheck">    </p:cNvPr>
          <p:cNvPicPr>
            <a:picLocks noChangeAspect="1"/>
          </p:cNvPicPr>
          <p:nvPr/>
        </p:nvPicPr>
        <p:blipFill>
          <a:blip r:embed="rId1"/>
          <a:stretch>
            <a:fillRect/>
          </a:stretch>
        </p:blipFill>
        <p:spPr>
          <a:xfrm>
            <a:off x="1000354" y="1686154"/>
            <a:ext cx="285293" cy="285293"/>
          </a:xfrm>
          <a:prstGeom prst="rect">
            <a:avLst/>
          </a:prstGeom>
        </p:spPr>
      </p:pic>
      <p:sp>
        <p:nvSpPr>
          <p:cNvPr id="6" name="Text 3"/>
          <p:cNvSpPr txBox="1"/>
          <p:nvPr/>
        </p:nvSpPr>
        <p:spPr>
          <a:xfrm>
            <a:off x="1554480" y="155448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Incluye (MVP)</a:t>
            </a:r>
            <a:endParaRPr lang="en-US" sz="1800" dirty="0"/>
          </a:p>
        </p:txBody>
      </p:sp>
      <p:sp>
        <p:nvSpPr>
          <p:cNvPr id="7" name="Text 4"/>
          <p:cNvSpPr txBox="1"/>
          <p:nvPr/>
        </p:nvSpPr>
        <p:spPr>
          <a:xfrm>
            <a:off x="868680" y="2377440"/>
            <a:ext cx="292608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Acceso de demostración por rol</a:t>
            </a:r>
            <a:endParaRPr lang="en-US" sz="1600" dirty="0"/>
          </a:p>
          <a:p>
            <a:pPr marL="342900" indent="-342900">
              <a:spcAft>
                <a:spcPts val="1000"/>
              </a:spcAft>
              <a:buSzPct val="100000"/>
              <a:buChar char="•"/>
            </a:pPr>
            <a:r>
              <a:rPr lang="en-US" sz="1600" dirty="0">
                <a:solidFill>
                  <a:schemeClr val="tx1"/>
                </a:solidFill>
              </a:rPr>
              <a:t>Catálogo de 6 tipos de trámite</a:t>
            </a:r>
            <a:endParaRPr lang="en-US" sz="1600" dirty="0"/>
          </a:p>
          <a:p>
            <a:pPr marL="342900" indent="-342900">
              <a:spcAft>
                <a:spcPts val="1000"/>
              </a:spcAft>
              <a:buSzPct val="100000"/>
              <a:buChar char="•"/>
            </a:pPr>
            <a:r>
              <a:rPr lang="en-US" sz="1600" dirty="0">
                <a:solidFill>
                  <a:schemeClr val="tx1"/>
                </a:solidFill>
              </a:rPr>
              <a:t>Registro con documentos adjuntos</a:t>
            </a:r>
            <a:endParaRPr lang="en-US" sz="1600" dirty="0"/>
          </a:p>
          <a:p>
            <a:pPr marL="342900" indent="-342900">
              <a:spcAft>
                <a:spcPts val="1000"/>
              </a:spcAft>
              <a:buSzPct val="100000"/>
              <a:buChar char="•"/>
            </a:pPr>
            <a:r>
              <a:rPr lang="en-US" sz="1600" dirty="0">
                <a:solidFill>
                  <a:schemeClr val="tx1"/>
                </a:solidFill>
              </a:rPr>
              <a:t>Flujo de 7 estados con historial</a:t>
            </a:r>
            <a:endParaRPr lang="en-US" sz="1600" dirty="0"/>
          </a:p>
          <a:p>
            <a:pPr marL="342900" indent="-342900">
              <a:spcAft>
                <a:spcPts val="1000"/>
              </a:spcAft>
              <a:buSzPct val="100000"/>
              <a:buChar char="•"/>
            </a:pPr>
            <a:r>
              <a:rPr lang="en-US" sz="1600" dirty="0">
                <a:solidFill>
                  <a:schemeClr val="tx1"/>
                </a:solidFill>
              </a:rPr>
              <a:t>Bandeja con filtros</a:t>
            </a:r>
            <a:endParaRPr lang="en-US" sz="1600" dirty="0"/>
          </a:p>
          <a:p>
            <a:pPr marL="342900" indent="-342900">
              <a:spcAft>
                <a:spcPts val="1000"/>
              </a:spcAft>
              <a:buSzPct val="100000"/>
              <a:buChar char="•"/>
            </a:pPr>
            <a:r>
              <a:rPr lang="en-US" sz="1600" dirty="0">
                <a:solidFill>
                  <a:schemeClr val="tx1"/>
                </a:solidFill>
              </a:rPr>
              <a:t>Mensajes y notificaciones</a:t>
            </a:r>
            <a:endParaRPr lang="en-US" sz="1600" dirty="0"/>
          </a:p>
          <a:p>
            <a:pPr marL="342900" indent="-342900">
              <a:spcAft>
                <a:spcPts val="1000"/>
              </a:spcAft>
              <a:buSzPct val="100000"/>
              <a:buChar char="•"/>
            </a:pPr>
            <a:r>
              <a:rPr lang="en-US" sz="1600" dirty="0">
                <a:solidFill>
                  <a:schemeClr val="tx1"/>
                </a:solidFill>
              </a:rPr>
              <a:t>Administración de tipos de trámite</a:t>
            </a:r>
            <a:endParaRPr lang="en-US" sz="1600" dirty="0"/>
          </a:p>
        </p:txBody>
      </p:sp>
      <p:sp>
        <p:nvSpPr>
          <p:cNvPr id="8" name="scope-1"/>
          <p:cNvSpPr/>
          <p:nvPr/>
        </p:nvSpPr>
        <p:spPr>
          <a:xfrm>
            <a:off x="4297680" y="1325880"/>
            <a:ext cx="3474720" cy="4709160"/>
          </a:xfrm>
          <a:prstGeom prst="roundRect">
            <a:avLst>
              <a:gd name="adj" fmla="val 3158"/>
            </a:avLst>
          </a:prstGeom>
          <a:solidFill>
            <a:schemeClr val="bg2"/>
          </a:solidFill>
          <a:ln/>
        </p:spPr>
      </p:sp>
      <p:sp>
        <p:nvSpPr>
          <p:cNvPr id="9" name="circle-scope-1"/>
          <p:cNvSpPr/>
          <p:nvPr/>
        </p:nvSpPr>
        <p:spPr>
          <a:xfrm>
            <a:off x="4617720" y="1554480"/>
            <a:ext cx="548640" cy="548640"/>
          </a:xfrm>
          <a:prstGeom prst="ellipse">
            <a:avLst/>
          </a:prstGeom>
          <a:solidFill>
            <a:schemeClr val="accent6"/>
          </a:solidFill>
          <a:ln/>
        </p:spPr>
      </p:sp>
      <p:pic>
        <p:nvPicPr>
          <p:cNvPr id="10" name="icon-scope-1" descr="LuCircleX">    </p:cNvPr>
          <p:cNvPicPr>
            <a:picLocks noChangeAspect="1"/>
          </p:cNvPicPr>
          <p:nvPr/>
        </p:nvPicPr>
        <p:blipFill>
          <a:blip r:embed="rId2"/>
          <a:stretch>
            <a:fillRect/>
          </a:stretch>
        </p:blipFill>
        <p:spPr>
          <a:xfrm>
            <a:off x="4749394" y="1686154"/>
            <a:ext cx="285293" cy="285293"/>
          </a:xfrm>
          <a:prstGeom prst="rect">
            <a:avLst/>
          </a:prstGeom>
        </p:spPr>
      </p:pic>
      <p:sp>
        <p:nvSpPr>
          <p:cNvPr id="11" name="Text 7"/>
          <p:cNvSpPr txBox="1"/>
          <p:nvPr/>
        </p:nvSpPr>
        <p:spPr>
          <a:xfrm>
            <a:off x="5303520" y="155448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Fuera de alcance</a:t>
            </a:r>
            <a:endParaRPr lang="en-US" sz="1800" dirty="0"/>
          </a:p>
        </p:txBody>
      </p:sp>
      <p:sp>
        <p:nvSpPr>
          <p:cNvPr id="12" name="Text 8"/>
          <p:cNvSpPr txBox="1"/>
          <p:nvPr/>
        </p:nvSpPr>
        <p:spPr>
          <a:xfrm>
            <a:off x="4617720" y="2377440"/>
            <a:ext cx="292608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Pagos</a:t>
            </a:r>
            <a:endParaRPr lang="en-US" sz="1600" dirty="0"/>
          </a:p>
          <a:p>
            <a:pPr marL="342900" indent="-342900">
              <a:spcAft>
                <a:spcPts val="1000"/>
              </a:spcAft>
              <a:buSzPct val="100000"/>
              <a:buChar char="•"/>
            </a:pPr>
            <a:r>
              <a:rPr lang="en-US" sz="1600" dirty="0">
                <a:solidFill>
                  <a:schemeClr val="tx1"/>
                </a:solidFill>
              </a:rPr>
              <a:t>Firma digital</a:t>
            </a:r>
            <a:endParaRPr lang="en-US" sz="1600" dirty="0"/>
          </a:p>
          <a:p>
            <a:pPr marL="342900" indent="-342900">
              <a:spcAft>
                <a:spcPts val="1000"/>
              </a:spcAft>
              <a:buSzPct val="100000"/>
              <a:buChar char="•"/>
            </a:pPr>
            <a:r>
              <a:rPr lang="en-US" sz="1600" dirty="0">
                <a:solidFill>
                  <a:schemeClr val="tx1"/>
                </a:solidFill>
              </a:rPr>
              <a:t>Integración con sistemas de la universidad</a:t>
            </a:r>
            <a:endParaRPr lang="en-US" sz="1600" dirty="0"/>
          </a:p>
          <a:p>
            <a:pPr marL="342900" indent="-342900">
              <a:spcAft>
                <a:spcPts val="1000"/>
              </a:spcAft>
              <a:buSzPct val="100000"/>
              <a:buChar char="•"/>
            </a:pPr>
            <a:r>
              <a:rPr lang="en-US" sz="1600" dirty="0">
                <a:solidFill>
                  <a:schemeClr val="tx1"/>
                </a:solidFill>
              </a:rPr>
              <a:t>Autenticación de producción</a:t>
            </a:r>
            <a:endParaRPr lang="en-US" sz="1600" dirty="0"/>
          </a:p>
        </p:txBody>
      </p:sp>
      <p:sp>
        <p:nvSpPr>
          <p:cNvPr id="13" name="scope-2"/>
          <p:cNvSpPr/>
          <p:nvPr/>
        </p:nvSpPr>
        <p:spPr>
          <a:xfrm>
            <a:off x="8046720" y="1325880"/>
            <a:ext cx="3474720" cy="4709160"/>
          </a:xfrm>
          <a:prstGeom prst="roundRect">
            <a:avLst>
              <a:gd name="adj" fmla="val 3158"/>
            </a:avLst>
          </a:prstGeom>
          <a:solidFill>
            <a:schemeClr val="bg2"/>
          </a:solidFill>
          <a:ln/>
        </p:spPr>
      </p:sp>
      <p:sp>
        <p:nvSpPr>
          <p:cNvPr id="14" name="circle-scope-2"/>
          <p:cNvSpPr/>
          <p:nvPr/>
        </p:nvSpPr>
        <p:spPr>
          <a:xfrm>
            <a:off x="8366760" y="1554480"/>
            <a:ext cx="548640" cy="548640"/>
          </a:xfrm>
          <a:prstGeom prst="ellipse">
            <a:avLst/>
          </a:prstGeom>
          <a:solidFill>
            <a:schemeClr val="accent3"/>
          </a:solidFill>
          <a:ln/>
        </p:spPr>
      </p:sp>
      <p:pic>
        <p:nvPicPr>
          <p:cNvPr id="15" name="icon-scope-2" descr="LuSparkles">    </p:cNvPr>
          <p:cNvPicPr>
            <a:picLocks noChangeAspect="1"/>
          </p:cNvPicPr>
          <p:nvPr/>
        </p:nvPicPr>
        <p:blipFill>
          <a:blip r:embed="rId3"/>
          <a:stretch>
            <a:fillRect/>
          </a:stretch>
        </p:blipFill>
        <p:spPr>
          <a:xfrm>
            <a:off x="8498434" y="1686154"/>
            <a:ext cx="285293" cy="285293"/>
          </a:xfrm>
          <a:prstGeom prst="rect">
            <a:avLst/>
          </a:prstGeom>
        </p:spPr>
      </p:pic>
      <p:sp>
        <p:nvSpPr>
          <p:cNvPr id="16" name="Text 11"/>
          <p:cNvSpPr txBox="1"/>
          <p:nvPr/>
        </p:nvSpPr>
        <p:spPr>
          <a:xfrm>
            <a:off x="9052560" y="155448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Deseable (siguientes fases)</a:t>
            </a:r>
            <a:endParaRPr lang="en-US" sz="1800" dirty="0"/>
          </a:p>
        </p:txBody>
      </p:sp>
      <p:sp>
        <p:nvSpPr>
          <p:cNvPr id="17" name="Text 12"/>
          <p:cNvSpPr txBox="1"/>
          <p:nvPr/>
        </p:nvSpPr>
        <p:spPr>
          <a:xfrm>
            <a:off x="8366760" y="2377440"/>
            <a:ext cx="292608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Asistente que orienta qué trámite elegir</a:t>
            </a:r>
            <a:endParaRPr lang="en-US" sz="1600" dirty="0"/>
          </a:p>
          <a:p>
            <a:pPr marL="342900" indent="-342900">
              <a:spcAft>
                <a:spcPts val="1000"/>
              </a:spcAft>
              <a:buSzPct val="100000"/>
              <a:buChar char="•"/>
            </a:pPr>
            <a:r>
              <a:rPr lang="en-US" sz="1600" dirty="0">
                <a:solidFill>
                  <a:schemeClr val="tx1"/>
                </a:solidFill>
              </a:rPr>
              <a:t>Plazo de subsanación</a:t>
            </a:r>
            <a:endParaRPr lang="en-US" sz="1600" dirty="0"/>
          </a:p>
          <a:p>
            <a:pPr marL="342900" indent="-342900">
              <a:spcAft>
                <a:spcPts val="1000"/>
              </a:spcAft>
              <a:buSzPct val="100000"/>
              <a:buChar char="•"/>
            </a:pPr>
            <a:r>
              <a:rPr lang="en-US" sz="1600" dirty="0">
                <a:solidFill>
                  <a:schemeClr val="tx1"/>
                </a:solidFill>
              </a:rPr>
              <a:t>Derivación entre oficinas</a:t>
            </a:r>
            <a:endParaRPr lang="en-US" sz="1600" dirty="0"/>
          </a:p>
          <a:p>
            <a:pPr marL="342900" indent="-342900">
              <a:spcAft>
                <a:spcPts val="1000"/>
              </a:spcAft>
              <a:buSzPct val="100000"/>
              <a:buChar char="•"/>
            </a:pPr>
            <a:r>
              <a:rPr lang="en-US" sz="1600" dirty="0">
                <a:solidFill>
                  <a:schemeClr val="tx1"/>
                </a:solidFill>
              </a:rPr>
              <a:t>Descarga de la respuesta en PDF</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Reglas de negocio que el sistema hace cumplir</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005840"/>
                <a:gridCol w="6217920"/>
              </a:tblGrid>
              <a:tr h="566928">
                <a:tc>
                  <a:txBody>
                    <a:bodyPr/>
                    <a:lstStyle/>
                    <a:p>
                      <a:pPr indent="0" marL="0">
                        <a:buNone/>
                      </a:pPr>
                      <a:r>
                        <a:rPr lang="en-US" sz="1400" b="1" dirty="0">
                          <a:solidFill>
                            <a:schemeClr val="bg1"/>
                          </a:solidFill>
                        </a:rPr>
                        <a:t>Código</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Regla</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400" b="1" dirty="0">
                          <a:solidFill>
                            <a:schemeClr val="accent1"/>
                          </a:solidFill>
                        </a:rPr>
                        <a:t>RN-01</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Una solicitud exige tipo, asunto (≥ 5 car.), descripción (≥ 15 car.) y al menos un documento</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accent1"/>
                          </a:solidFill>
                        </a:rPr>
                        <a:t>RN-02</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Solo se permiten los cambios de estado del flujo definido</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accent1"/>
                          </a:solidFill>
                        </a:rPr>
                        <a:t>RN-03</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Para observar, el personal debe escribir el motivo</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accent1"/>
                          </a:solidFill>
                        </a:rPr>
                        <a:t>RN-04</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Solo se resuelve si hay una respuesta registrada</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accent1"/>
                          </a:solidFill>
                        </a:rPr>
                        <a:t>RN-05</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Solo el estudiante dueño corrige una solicitud observada</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accent1"/>
                          </a:solidFill>
                        </a:rPr>
                        <a:t>RN-06</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Adjuntos PDF, JPG o PNG de hasta 5 MB</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Text 1"/>
          <p:cNvSpPr txBox="1"/>
          <p:nvPr/>
        </p:nvSpPr>
        <p:spPr>
          <a:xfrm>
            <a:off x="8229600" y="1325880"/>
            <a:ext cx="3383280" cy="365760"/>
          </a:xfrm>
          <a:prstGeom prst="rect">
            <a:avLst/>
          </a:prstGeom>
          <a:noFill/>
          <a:ln/>
        </p:spPr>
        <p:txBody>
          <a:bodyPr wrap="square" lIns="0" tIns="0" rIns="0" bIns="0" rtlCol="0" anchor="t"/>
          <a:lstStyle/>
          <a:p>
            <a:pPr indent="0" marL="0">
              <a:buNone/>
            </a:pPr>
            <a:r>
              <a:rPr lang="en-US" sz="1800" b="1" dirty="0">
                <a:solidFill>
                  <a:schemeClr val="tx2"/>
                </a:solidFill>
              </a:rPr>
              <a:t>No funcionales</a:t>
            </a:r>
            <a:endParaRPr lang="en-US" sz="1800" dirty="0"/>
          </a:p>
        </p:txBody>
      </p:sp>
      <p:sp>
        <p:nvSpPr>
          <p:cNvPr id="5" name="nfr-0"/>
          <p:cNvSpPr/>
          <p:nvPr/>
        </p:nvSpPr>
        <p:spPr>
          <a:xfrm>
            <a:off x="8229600" y="1828800"/>
            <a:ext cx="3383280" cy="868680"/>
          </a:xfrm>
          <a:prstGeom prst="roundRect">
            <a:avLst>
              <a:gd name="adj" fmla="val 12632"/>
            </a:avLst>
          </a:prstGeom>
          <a:solidFill>
            <a:schemeClr val="bg2"/>
          </a:solidFill>
          <a:ln/>
        </p:spPr>
      </p:sp>
      <p:sp>
        <p:nvSpPr>
          <p:cNvPr id="6" name="circle-nfr-0"/>
          <p:cNvSpPr/>
          <p:nvPr/>
        </p:nvSpPr>
        <p:spPr>
          <a:xfrm>
            <a:off x="8366760" y="2011680"/>
            <a:ext cx="502920" cy="502920"/>
          </a:xfrm>
          <a:prstGeom prst="ellipse">
            <a:avLst/>
          </a:prstGeom>
          <a:solidFill>
            <a:schemeClr val="accent1"/>
          </a:solidFill>
          <a:ln/>
        </p:spPr>
      </p:sp>
      <p:pic>
        <p:nvPicPr>
          <p:cNvPr id="7" name="icon-nfr-0" descr="LuMonitorSmartphone">    </p:cNvPr>
          <p:cNvPicPr>
            <a:picLocks noChangeAspect="1"/>
          </p:cNvPicPr>
          <p:nvPr/>
        </p:nvPicPr>
        <p:blipFill>
          <a:blip r:embed="rId1"/>
          <a:stretch>
            <a:fillRect/>
          </a:stretch>
        </p:blipFill>
        <p:spPr>
          <a:xfrm>
            <a:off x="8487461" y="2132381"/>
            <a:ext cx="261518" cy="261518"/>
          </a:xfrm>
          <a:prstGeom prst="rect">
            <a:avLst/>
          </a:prstGeom>
        </p:spPr>
      </p:pic>
      <p:sp>
        <p:nvSpPr>
          <p:cNvPr id="8" name="Text 4"/>
          <p:cNvSpPr txBox="1"/>
          <p:nvPr/>
        </p:nvSpPr>
        <p:spPr>
          <a:xfrm>
            <a:off x="9006840" y="1828800"/>
            <a:ext cx="2514600" cy="868680"/>
          </a:xfrm>
          <a:prstGeom prst="rect">
            <a:avLst/>
          </a:prstGeom>
          <a:noFill/>
          <a:ln/>
        </p:spPr>
        <p:txBody>
          <a:bodyPr wrap="square" lIns="0" tIns="0" rIns="0" bIns="0" rtlCol="0" anchor="ctr"/>
          <a:lstStyle/>
          <a:p>
            <a:pPr indent="0" marL="0">
              <a:buNone/>
            </a:pPr>
            <a:r>
              <a:rPr lang="en-US" sz="1300" dirty="0">
                <a:solidFill>
                  <a:schemeClr val="tx1"/>
                </a:solidFill>
              </a:rPr>
              <a:t>Responsive: escritorio, tablet y celular</a:t>
            </a:r>
            <a:endParaRPr lang="en-US" sz="1300" dirty="0"/>
          </a:p>
        </p:txBody>
      </p:sp>
      <p:sp>
        <p:nvSpPr>
          <p:cNvPr id="9" name="nfr-1"/>
          <p:cNvSpPr/>
          <p:nvPr/>
        </p:nvSpPr>
        <p:spPr>
          <a:xfrm>
            <a:off x="8229600" y="2852928"/>
            <a:ext cx="3383280" cy="868680"/>
          </a:xfrm>
          <a:prstGeom prst="roundRect">
            <a:avLst>
              <a:gd name="adj" fmla="val 12632"/>
            </a:avLst>
          </a:prstGeom>
          <a:solidFill>
            <a:schemeClr val="bg2"/>
          </a:solidFill>
          <a:ln/>
        </p:spPr>
      </p:sp>
      <p:sp>
        <p:nvSpPr>
          <p:cNvPr id="10" name="circle-nfr-1"/>
          <p:cNvSpPr/>
          <p:nvPr/>
        </p:nvSpPr>
        <p:spPr>
          <a:xfrm>
            <a:off x="8366760" y="3035808"/>
            <a:ext cx="502920" cy="502920"/>
          </a:xfrm>
          <a:prstGeom prst="ellipse">
            <a:avLst/>
          </a:prstGeom>
          <a:solidFill>
            <a:schemeClr val="accent1"/>
          </a:solidFill>
          <a:ln/>
        </p:spPr>
      </p:sp>
      <p:pic>
        <p:nvPicPr>
          <p:cNvPr id="11" name="icon-nfr-1" descr="LuLanguages">    </p:cNvPr>
          <p:cNvPicPr>
            <a:picLocks noChangeAspect="1"/>
          </p:cNvPicPr>
          <p:nvPr/>
        </p:nvPicPr>
        <p:blipFill>
          <a:blip r:embed="rId2"/>
          <a:stretch>
            <a:fillRect/>
          </a:stretch>
        </p:blipFill>
        <p:spPr>
          <a:xfrm>
            <a:off x="8487461" y="3156509"/>
            <a:ext cx="261518" cy="261518"/>
          </a:xfrm>
          <a:prstGeom prst="rect">
            <a:avLst/>
          </a:prstGeom>
        </p:spPr>
      </p:pic>
      <p:sp>
        <p:nvSpPr>
          <p:cNvPr id="12" name="Text 7"/>
          <p:cNvSpPr txBox="1"/>
          <p:nvPr/>
        </p:nvSpPr>
        <p:spPr>
          <a:xfrm>
            <a:off x="9006840" y="2852928"/>
            <a:ext cx="2514600" cy="868680"/>
          </a:xfrm>
          <a:prstGeom prst="rect">
            <a:avLst/>
          </a:prstGeom>
          <a:noFill/>
          <a:ln/>
        </p:spPr>
        <p:txBody>
          <a:bodyPr wrap="square" lIns="0" tIns="0" rIns="0" bIns="0" rtlCol="0" anchor="ctr"/>
          <a:lstStyle/>
          <a:p>
            <a:pPr indent="0" marL="0">
              <a:buNone/>
            </a:pPr>
            <a:r>
              <a:rPr lang="en-US" sz="1300" dirty="0">
                <a:solidFill>
                  <a:schemeClr val="tx1"/>
                </a:solidFill>
              </a:rPr>
              <a:t>Toda la interfaz en español</a:t>
            </a:r>
            <a:endParaRPr lang="en-US" sz="1300" dirty="0"/>
          </a:p>
        </p:txBody>
      </p:sp>
      <p:sp>
        <p:nvSpPr>
          <p:cNvPr id="13" name="nfr-2"/>
          <p:cNvSpPr/>
          <p:nvPr/>
        </p:nvSpPr>
        <p:spPr>
          <a:xfrm>
            <a:off x="8229600" y="3877056"/>
            <a:ext cx="3383280" cy="868680"/>
          </a:xfrm>
          <a:prstGeom prst="roundRect">
            <a:avLst>
              <a:gd name="adj" fmla="val 12632"/>
            </a:avLst>
          </a:prstGeom>
          <a:solidFill>
            <a:schemeClr val="bg2"/>
          </a:solidFill>
          <a:ln/>
        </p:spPr>
      </p:sp>
      <p:sp>
        <p:nvSpPr>
          <p:cNvPr id="14" name="circle-nfr-2"/>
          <p:cNvSpPr/>
          <p:nvPr/>
        </p:nvSpPr>
        <p:spPr>
          <a:xfrm>
            <a:off x="8366760" y="4059936"/>
            <a:ext cx="502920" cy="502920"/>
          </a:xfrm>
          <a:prstGeom prst="ellipse">
            <a:avLst/>
          </a:prstGeom>
          <a:solidFill>
            <a:schemeClr val="accent1"/>
          </a:solidFill>
          <a:ln/>
        </p:spPr>
      </p:sp>
      <p:pic>
        <p:nvPicPr>
          <p:cNvPr id="15" name="icon-nfr-2" descr="LuAccessibility">    </p:cNvPr>
          <p:cNvPicPr>
            <a:picLocks noChangeAspect="1"/>
          </p:cNvPicPr>
          <p:nvPr/>
        </p:nvPicPr>
        <p:blipFill>
          <a:blip r:embed="rId3"/>
          <a:stretch>
            <a:fillRect/>
          </a:stretch>
        </p:blipFill>
        <p:spPr>
          <a:xfrm>
            <a:off x="8487461" y="4180637"/>
            <a:ext cx="261518" cy="261518"/>
          </a:xfrm>
          <a:prstGeom prst="rect">
            <a:avLst/>
          </a:prstGeom>
        </p:spPr>
      </p:pic>
      <p:sp>
        <p:nvSpPr>
          <p:cNvPr id="16" name="Text 10"/>
          <p:cNvSpPr txBox="1"/>
          <p:nvPr/>
        </p:nvSpPr>
        <p:spPr>
          <a:xfrm>
            <a:off x="9006840" y="3877056"/>
            <a:ext cx="2514600" cy="868680"/>
          </a:xfrm>
          <a:prstGeom prst="rect">
            <a:avLst/>
          </a:prstGeom>
          <a:noFill/>
          <a:ln/>
        </p:spPr>
        <p:txBody>
          <a:bodyPr wrap="square" lIns="0" tIns="0" rIns="0" bIns="0" rtlCol="0" anchor="ctr"/>
          <a:lstStyle/>
          <a:p>
            <a:pPr indent="0" marL="0">
              <a:buNone/>
            </a:pPr>
            <a:r>
              <a:rPr lang="en-US" sz="1300" dirty="0">
                <a:solidFill>
                  <a:schemeClr val="tx1"/>
                </a:solidFill>
              </a:rPr>
              <a:t>Formularios con etiquetas y mensajes de error claros</a:t>
            </a:r>
            <a:endParaRPr lang="en-US" sz="1300" dirty="0"/>
          </a:p>
        </p:txBody>
      </p:sp>
      <p:sp>
        <p:nvSpPr>
          <p:cNvPr id="17" name="nfr-3"/>
          <p:cNvSpPr/>
          <p:nvPr/>
        </p:nvSpPr>
        <p:spPr>
          <a:xfrm>
            <a:off x="8229600" y="4901184"/>
            <a:ext cx="3383280" cy="868680"/>
          </a:xfrm>
          <a:prstGeom prst="roundRect">
            <a:avLst>
              <a:gd name="adj" fmla="val 12632"/>
            </a:avLst>
          </a:prstGeom>
          <a:solidFill>
            <a:schemeClr val="bg2"/>
          </a:solidFill>
          <a:ln/>
        </p:spPr>
      </p:sp>
      <p:sp>
        <p:nvSpPr>
          <p:cNvPr id="18" name="circle-nfr-3"/>
          <p:cNvSpPr/>
          <p:nvPr/>
        </p:nvSpPr>
        <p:spPr>
          <a:xfrm>
            <a:off x="8366760" y="5084064"/>
            <a:ext cx="502920" cy="502920"/>
          </a:xfrm>
          <a:prstGeom prst="ellipse">
            <a:avLst/>
          </a:prstGeom>
          <a:solidFill>
            <a:schemeClr val="accent1"/>
          </a:solidFill>
          <a:ln/>
        </p:spPr>
      </p:sp>
      <p:pic>
        <p:nvPicPr>
          <p:cNvPr id="19" name="icon-nfr-3" descr="LuShieldCheck">    </p:cNvPr>
          <p:cNvPicPr>
            <a:picLocks noChangeAspect="1"/>
          </p:cNvPicPr>
          <p:nvPr/>
        </p:nvPicPr>
        <p:blipFill>
          <a:blip r:embed="rId4"/>
          <a:stretch>
            <a:fillRect/>
          </a:stretch>
        </p:blipFill>
        <p:spPr>
          <a:xfrm>
            <a:off x="8487461" y="5204765"/>
            <a:ext cx="261518" cy="261518"/>
          </a:xfrm>
          <a:prstGeom prst="rect">
            <a:avLst/>
          </a:prstGeom>
        </p:spPr>
      </p:pic>
      <p:sp>
        <p:nvSpPr>
          <p:cNvPr id="20" name="Text 13"/>
          <p:cNvSpPr txBox="1"/>
          <p:nvPr/>
        </p:nvSpPr>
        <p:spPr>
          <a:xfrm>
            <a:off x="9006840" y="4901184"/>
            <a:ext cx="2514600" cy="868680"/>
          </a:xfrm>
          <a:prstGeom prst="rect">
            <a:avLst/>
          </a:prstGeom>
          <a:noFill/>
          <a:ln/>
        </p:spPr>
        <p:txBody>
          <a:bodyPr wrap="square" lIns="0" tIns="0" rIns="0" bIns="0" rtlCol="0" anchor="ctr"/>
          <a:lstStyle/>
          <a:p>
            <a:pPr indent="0" marL="0">
              <a:buNone/>
            </a:pPr>
            <a:r>
              <a:rPr lang="en-US" sz="1300" dirty="0">
                <a:solidFill>
                  <a:schemeClr val="tx1"/>
                </a:solidFill>
              </a:rPr>
              <a:t>Reglas validadas en la capa de datos y con pruebas</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Seis épicas y un backlog dividido por flujo y rol</a:t>
            </a:r>
            <a:endParaRPr lang="en-US" sz="3400" dirty="0"/>
          </a:p>
        </p:txBody>
      </p:sp>
      <p:sp>
        <p:nvSpPr>
          <p:cNvPr id="3" name="epic-0"/>
          <p:cNvSpPr/>
          <p:nvPr/>
        </p:nvSpPr>
        <p:spPr>
          <a:xfrm>
            <a:off x="548640" y="1280160"/>
            <a:ext cx="1737360" cy="685800"/>
          </a:xfrm>
          <a:prstGeom prst="roundRect">
            <a:avLst>
              <a:gd name="adj" fmla="val 16000"/>
            </a:avLst>
          </a:prstGeom>
          <a:solidFill>
            <a:schemeClr val="tx2"/>
          </a:solidFill>
          <a:ln/>
        </p:spPr>
      </p:sp>
      <p:sp>
        <p:nvSpPr>
          <p:cNvPr id="4" name="Text 2"/>
          <p:cNvSpPr txBox="1"/>
          <p:nvPr/>
        </p:nvSpPr>
        <p:spPr>
          <a:xfrm>
            <a:off x="640080" y="1280160"/>
            <a:ext cx="1554480" cy="685800"/>
          </a:xfrm>
          <a:prstGeom prst="rect">
            <a:avLst/>
          </a:prstGeom>
          <a:noFill/>
          <a:ln/>
        </p:spPr>
        <p:txBody>
          <a:bodyPr wrap="square" lIns="0" tIns="0" rIns="0" bIns="0" rtlCol="0" anchor="ctr"/>
          <a:lstStyle/>
          <a:p>
            <a:pPr algn="ctr" indent="0" marL="0">
              <a:buNone/>
            </a:pPr>
            <a:r>
              <a:rPr lang="en-US" sz="1300" b="1" dirty="0">
                <a:solidFill>
                  <a:schemeClr val="bg1"/>
                </a:solidFill>
              </a:rPr>
              <a:t>E1 Autenticación y roles</a:t>
            </a:r>
            <a:endParaRPr lang="en-US" sz="1300" dirty="0"/>
          </a:p>
        </p:txBody>
      </p:sp>
      <p:sp>
        <p:nvSpPr>
          <p:cNvPr id="5" name="epic-1"/>
          <p:cNvSpPr/>
          <p:nvPr/>
        </p:nvSpPr>
        <p:spPr>
          <a:xfrm>
            <a:off x="2409444" y="1280160"/>
            <a:ext cx="1737360" cy="685800"/>
          </a:xfrm>
          <a:prstGeom prst="roundRect">
            <a:avLst>
              <a:gd name="adj" fmla="val 16000"/>
            </a:avLst>
          </a:prstGeom>
          <a:solidFill>
            <a:schemeClr val="tx2"/>
          </a:solidFill>
          <a:ln/>
        </p:spPr>
      </p:sp>
      <p:sp>
        <p:nvSpPr>
          <p:cNvPr id="6" name="Text 4"/>
          <p:cNvSpPr txBox="1"/>
          <p:nvPr/>
        </p:nvSpPr>
        <p:spPr>
          <a:xfrm>
            <a:off x="2500884" y="1280160"/>
            <a:ext cx="1554480" cy="685800"/>
          </a:xfrm>
          <a:prstGeom prst="rect">
            <a:avLst/>
          </a:prstGeom>
          <a:noFill/>
          <a:ln/>
        </p:spPr>
        <p:txBody>
          <a:bodyPr wrap="square" lIns="0" tIns="0" rIns="0" bIns="0" rtlCol="0" anchor="ctr"/>
          <a:lstStyle/>
          <a:p>
            <a:pPr algn="ctr" indent="0" marL="0">
              <a:buNone/>
            </a:pPr>
            <a:r>
              <a:rPr lang="en-US" sz="1300" b="1" dirty="0">
                <a:solidFill>
                  <a:schemeClr val="bg1"/>
                </a:solidFill>
              </a:rPr>
              <a:t>E2 Registro de trámites</a:t>
            </a:r>
            <a:endParaRPr lang="en-US" sz="1300" dirty="0"/>
          </a:p>
        </p:txBody>
      </p:sp>
      <p:sp>
        <p:nvSpPr>
          <p:cNvPr id="7" name="epic-2"/>
          <p:cNvSpPr/>
          <p:nvPr/>
        </p:nvSpPr>
        <p:spPr>
          <a:xfrm>
            <a:off x="4270248" y="1280160"/>
            <a:ext cx="1737360" cy="685800"/>
          </a:xfrm>
          <a:prstGeom prst="roundRect">
            <a:avLst>
              <a:gd name="adj" fmla="val 16000"/>
            </a:avLst>
          </a:prstGeom>
          <a:solidFill>
            <a:schemeClr val="tx2"/>
          </a:solidFill>
          <a:ln/>
        </p:spPr>
      </p:sp>
      <p:sp>
        <p:nvSpPr>
          <p:cNvPr id="8" name="Text 6"/>
          <p:cNvSpPr txBox="1"/>
          <p:nvPr/>
        </p:nvSpPr>
        <p:spPr>
          <a:xfrm>
            <a:off x="4361688" y="1280160"/>
            <a:ext cx="1554480" cy="685800"/>
          </a:xfrm>
          <a:prstGeom prst="rect">
            <a:avLst/>
          </a:prstGeom>
          <a:noFill/>
          <a:ln/>
        </p:spPr>
        <p:txBody>
          <a:bodyPr wrap="square" lIns="0" tIns="0" rIns="0" bIns="0" rtlCol="0" anchor="ctr"/>
          <a:lstStyle/>
          <a:p>
            <a:pPr algn="ctr" indent="0" marL="0">
              <a:buNone/>
            </a:pPr>
            <a:r>
              <a:rPr lang="en-US" sz="1300" b="1" dirty="0">
                <a:solidFill>
                  <a:schemeClr val="bg1"/>
                </a:solidFill>
              </a:rPr>
              <a:t>E3 Evaluación y atención</a:t>
            </a:r>
            <a:endParaRPr lang="en-US" sz="1300" dirty="0"/>
          </a:p>
        </p:txBody>
      </p:sp>
      <p:sp>
        <p:nvSpPr>
          <p:cNvPr id="9" name="epic-3"/>
          <p:cNvSpPr/>
          <p:nvPr/>
        </p:nvSpPr>
        <p:spPr>
          <a:xfrm>
            <a:off x="6131052" y="1280160"/>
            <a:ext cx="1737360" cy="685800"/>
          </a:xfrm>
          <a:prstGeom prst="roundRect">
            <a:avLst>
              <a:gd name="adj" fmla="val 16000"/>
            </a:avLst>
          </a:prstGeom>
          <a:solidFill>
            <a:schemeClr val="tx2"/>
          </a:solidFill>
          <a:ln/>
        </p:spPr>
      </p:sp>
      <p:sp>
        <p:nvSpPr>
          <p:cNvPr id="10" name="Text 8"/>
          <p:cNvSpPr txBox="1"/>
          <p:nvPr/>
        </p:nvSpPr>
        <p:spPr>
          <a:xfrm>
            <a:off x="6222492" y="1280160"/>
            <a:ext cx="1554480" cy="685800"/>
          </a:xfrm>
          <a:prstGeom prst="rect">
            <a:avLst/>
          </a:prstGeom>
          <a:noFill/>
          <a:ln/>
        </p:spPr>
        <p:txBody>
          <a:bodyPr wrap="square" lIns="0" tIns="0" rIns="0" bIns="0" rtlCol="0" anchor="ctr"/>
          <a:lstStyle/>
          <a:p>
            <a:pPr algn="ctr" indent="0" marL="0">
              <a:buNone/>
            </a:pPr>
            <a:r>
              <a:rPr lang="en-US" sz="1300" b="1" dirty="0">
                <a:solidFill>
                  <a:schemeClr val="bg1"/>
                </a:solidFill>
              </a:rPr>
              <a:t>E4 Seguimiento y mensajes</a:t>
            </a:r>
            <a:endParaRPr lang="en-US" sz="1300" dirty="0"/>
          </a:p>
        </p:txBody>
      </p:sp>
      <p:sp>
        <p:nvSpPr>
          <p:cNvPr id="11" name="epic-4"/>
          <p:cNvSpPr/>
          <p:nvPr/>
        </p:nvSpPr>
        <p:spPr>
          <a:xfrm>
            <a:off x="7991856" y="1280160"/>
            <a:ext cx="1737360" cy="685800"/>
          </a:xfrm>
          <a:prstGeom prst="roundRect">
            <a:avLst>
              <a:gd name="adj" fmla="val 16000"/>
            </a:avLst>
          </a:prstGeom>
          <a:solidFill>
            <a:schemeClr val="tx2"/>
          </a:solidFill>
          <a:ln/>
        </p:spPr>
      </p:sp>
      <p:sp>
        <p:nvSpPr>
          <p:cNvPr id="12" name="Text 10"/>
          <p:cNvSpPr txBox="1"/>
          <p:nvPr/>
        </p:nvSpPr>
        <p:spPr>
          <a:xfrm>
            <a:off x="8083296" y="1280160"/>
            <a:ext cx="1554480" cy="685800"/>
          </a:xfrm>
          <a:prstGeom prst="rect">
            <a:avLst/>
          </a:prstGeom>
          <a:noFill/>
          <a:ln/>
        </p:spPr>
        <p:txBody>
          <a:bodyPr wrap="square" lIns="0" tIns="0" rIns="0" bIns="0" rtlCol="0" anchor="ctr"/>
          <a:lstStyle/>
          <a:p>
            <a:pPr algn="ctr" indent="0" marL="0">
              <a:buNone/>
            </a:pPr>
            <a:r>
              <a:rPr lang="en-US" sz="1300" b="1" dirty="0">
                <a:solidFill>
                  <a:schemeClr val="bg1"/>
                </a:solidFill>
              </a:rPr>
              <a:t>E5 Dashboard</a:t>
            </a:r>
            <a:endParaRPr lang="en-US" sz="1300" dirty="0"/>
          </a:p>
        </p:txBody>
      </p:sp>
      <p:sp>
        <p:nvSpPr>
          <p:cNvPr id="13" name="epic-5"/>
          <p:cNvSpPr/>
          <p:nvPr/>
        </p:nvSpPr>
        <p:spPr>
          <a:xfrm>
            <a:off x="9852660" y="1280160"/>
            <a:ext cx="1737360" cy="685800"/>
          </a:xfrm>
          <a:prstGeom prst="roundRect">
            <a:avLst>
              <a:gd name="adj" fmla="val 16000"/>
            </a:avLst>
          </a:prstGeom>
          <a:solidFill>
            <a:schemeClr val="tx2"/>
          </a:solidFill>
          <a:ln/>
        </p:spPr>
      </p:sp>
      <p:sp>
        <p:nvSpPr>
          <p:cNvPr id="14" name="Text 12"/>
          <p:cNvSpPr txBox="1"/>
          <p:nvPr/>
        </p:nvSpPr>
        <p:spPr>
          <a:xfrm>
            <a:off x="9944100" y="1280160"/>
            <a:ext cx="1554480" cy="685800"/>
          </a:xfrm>
          <a:prstGeom prst="rect">
            <a:avLst/>
          </a:prstGeom>
          <a:noFill/>
          <a:ln/>
        </p:spPr>
        <p:txBody>
          <a:bodyPr wrap="square" lIns="0" tIns="0" rIns="0" bIns="0" rtlCol="0" anchor="ctr"/>
          <a:lstStyle/>
          <a:p>
            <a:pPr algn="ctr" indent="0" marL="0">
              <a:buNone/>
            </a:pPr>
            <a:r>
              <a:rPr lang="en-US" sz="1300" b="1" dirty="0">
                <a:solidFill>
                  <a:schemeClr val="bg1"/>
                </a:solidFill>
              </a:rPr>
              <a:t>E6 Administración</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822960"/>
                <a:gridCol w="9326880"/>
                <a:gridCol w="914400"/>
              </a:tblGrid>
              <a:tr h="457200">
                <a:tc>
                  <a:txBody>
                    <a:bodyPr/>
                    <a:lstStyle/>
                    <a:p>
                      <a:pPr indent="0" marL="0">
                        <a:buNone/>
                      </a:pPr>
                      <a:r>
                        <a:rPr lang="en-US" sz="1400" b="1" dirty="0">
                          <a:solidFill>
                            <a:schemeClr val="bg1"/>
                          </a:solidFill>
                        </a:rPr>
                        <a:t>HU</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Historia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Épica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algn="l" indent="0" marL="0">
                        <a:buNone/>
                      </a:pPr>
                      <a:r>
                        <a:rPr lang="en-US" sz="1400" b="1" dirty="0">
                          <a:solidFill>
                            <a:schemeClr val="accent1"/>
                          </a:solidFill>
                        </a:rPr>
                        <a:t>HU01</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Como estudiante, quiero consultar los requisitos de cada trámite para saber qué presentar</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rPr>
                        <a:t>E2</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accent1"/>
                          </a:solidFill>
                        </a:rPr>
                        <a:t>HU02</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Como estudiante, quiero registrar una solicitud con documentos para no depender del correo ni de ventanilla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rPr>
                        <a:t>E2</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accent1"/>
                          </a:solidFill>
                        </a:rPr>
                        <a:t>HU03</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Como estudiante, quiero ver el estado y el historial de mi solicitud para conocer su avance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rPr>
                        <a:t>E4</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accent1"/>
                          </a:solidFill>
                        </a:rPr>
                        <a:t>HU04</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Como personal, quiero observar una solicitud indicando qué falta para que el estudiante la corrija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rPr>
                        <a:t>E3</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accent1"/>
                          </a:solidFill>
                        </a:rPr>
                        <a:t>HU05</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Como estudiante, quiero enviar mi corrección para que el trámite continúe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rPr>
                        <a:t>E3</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accent1"/>
                          </a:solidFill>
                        </a:rPr>
                        <a:t>HU06</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Como personal, quiero filtrar la bandeja por código, tipo, estado y fecha para priorizar</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rPr>
                        <a:t>E3</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accent1"/>
                          </a:solidFill>
                        </a:rPr>
                        <a:t>HU07</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Como administrador, quiero gestionar los tipos de trámite para mantener el catálogo al día</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rPr>
                        <a:t>E6</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Criterios de aceptación: Dado – Cuando – Entonces</a:t>
            </a:r>
            <a:endParaRPr lang="en-US" sz="3400" dirty="0"/>
          </a:p>
        </p:txBody>
      </p:sp>
      <p:sp>
        <p:nvSpPr>
          <p:cNvPr id="3" name="bdd-0"/>
          <p:cNvSpPr/>
          <p:nvPr/>
        </p:nvSpPr>
        <p:spPr>
          <a:xfrm>
            <a:off x="548640" y="1325880"/>
            <a:ext cx="5394960" cy="3566160"/>
          </a:xfrm>
          <a:prstGeom prst="roundRect">
            <a:avLst>
              <a:gd name="adj" fmla="val 3077"/>
            </a:avLst>
          </a:prstGeom>
          <a:solidFill>
            <a:schemeClr val="bg2"/>
          </a:solidFill>
          <a:ln/>
        </p:spPr>
      </p:sp>
      <p:sp>
        <p:nvSpPr>
          <p:cNvPr id="4" name="Text 2"/>
          <p:cNvSpPr txBox="1"/>
          <p:nvPr/>
        </p:nvSpPr>
        <p:spPr>
          <a:xfrm>
            <a:off x="868680" y="1508760"/>
            <a:ext cx="4754880" cy="457200"/>
          </a:xfrm>
          <a:prstGeom prst="rect">
            <a:avLst/>
          </a:prstGeom>
          <a:noFill/>
          <a:ln/>
        </p:spPr>
        <p:txBody>
          <a:bodyPr wrap="square" lIns="0" tIns="0" rIns="0" bIns="0" rtlCol="0" anchor="t"/>
          <a:lstStyle/>
          <a:p>
            <a:pPr indent="0" marL="0">
              <a:buNone/>
            </a:pPr>
            <a:r>
              <a:rPr lang="en-US" sz="1700" b="1" dirty="0">
                <a:solidFill>
                  <a:schemeClr val="tx2"/>
                </a:solidFill>
              </a:rPr>
              <a:t>Escenario: HU04 · Observar sin indicar el motivo</a:t>
            </a:r>
            <a:endParaRPr lang="en-US" sz="1700" dirty="0"/>
          </a:p>
        </p:txBody>
      </p:sp>
      <p:sp>
        <p:nvSpPr>
          <p:cNvPr id="5" name="Text 3"/>
          <p:cNvSpPr txBox="1"/>
          <p:nvPr/>
        </p:nvSpPr>
        <p:spPr>
          <a:xfrm>
            <a:off x="868680" y="2103120"/>
            <a:ext cx="4754880" cy="2651760"/>
          </a:xfrm>
          <a:prstGeom prst="rect">
            <a:avLst/>
          </a:prstGeom>
          <a:noFill/>
          <a:ln/>
        </p:spPr>
        <p:txBody>
          <a:bodyPr wrap="square" lIns="0" tIns="0" rIns="0" bIns="0" rtlCol="0" anchor="t"/>
          <a:lstStyle/>
          <a:p>
            <a:pPr indent="0" marL="0">
              <a:spcAft>
                <a:spcPts val="1200"/>
              </a:spcAft>
              <a:buNone/>
            </a:pPr>
            <a:r>
              <a:rPr lang="en-US" sz="1600" b="1" dirty="0">
                <a:solidFill>
                  <a:schemeClr val="accent1"/>
                </a:solidFill>
              </a:rPr>
              <a:t>Dado </a:t>
            </a:r>
            <a:pPr indent="0" marL="0">
              <a:spcAft>
                <a:spcPts val="1200"/>
              </a:spcAft>
              <a:buNone/>
            </a:pPr>
            <a:r>
              <a:rPr lang="en-US" sz="1600" dirty="0">
                <a:solidFill>
                  <a:schemeClr val="tx1"/>
                </a:solidFill>
              </a:rPr>
              <a:t>que la solicitud NF-2026-0005 está «En evaluación»</a:t>
            </a:r>
            <a:endParaRPr lang="en-US" sz="1600" dirty="0"/>
          </a:p>
          <a:p>
            <a:pPr indent="0" marL="0">
              <a:spcAft>
                <a:spcPts val="1200"/>
              </a:spcAft>
              <a:buNone/>
            </a:pPr>
            <a:r>
              <a:rPr lang="en-US" sz="1600" b="1" dirty="0">
                <a:solidFill>
                  <a:schemeClr val="accent1"/>
                </a:solidFill>
              </a:rPr>
              <a:t>Cuando </a:t>
            </a:r>
            <a:pPr indent="0" marL="0">
              <a:spcAft>
                <a:spcPts val="1200"/>
              </a:spcAft>
              <a:buNone/>
            </a:pPr>
            <a:r>
              <a:rPr lang="en-US" sz="1600" dirty="0">
                <a:solidFill>
                  <a:schemeClr val="tx1"/>
                </a:solidFill>
              </a:rPr>
              <a:t>el personal intenta observarla sin escribir una nota</a:t>
            </a:r>
            <a:endParaRPr lang="en-US" sz="1600" dirty="0"/>
          </a:p>
          <a:p>
            <a:pPr indent="0" marL="0">
              <a:spcAft>
                <a:spcPts val="1200"/>
              </a:spcAft>
              <a:buNone/>
            </a:pPr>
            <a:r>
              <a:rPr lang="en-US" sz="1600" b="1" dirty="0">
                <a:solidFill>
                  <a:schemeClr val="accent1"/>
                </a:solidFill>
              </a:rPr>
              <a:t>Entonces </a:t>
            </a:r>
            <a:pPr indent="0" marL="0">
              <a:spcAft>
                <a:spcPts val="1200"/>
              </a:spcAft>
              <a:buNone/>
            </a:pPr>
            <a:r>
              <a:rPr lang="en-US" sz="1600" dirty="0">
                <a:solidFill>
                  <a:schemeClr val="tx1"/>
                </a:solidFill>
              </a:rPr>
              <a:t>el sistema muestra «Describe la observación para el estudiante.»</a:t>
            </a:r>
            <a:endParaRPr lang="en-US" sz="1600" dirty="0"/>
          </a:p>
          <a:p>
            <a:pPr indent="0" marL="0">
              <a:spcAft>
                <a:spcPts val="1200"/>
              </a:spcAft>
              <a:buNone/>
            </a:pPr>
            <a:r>
              <a:rPr lang="en-US" sz="1600" b="1" dirty="0">
                <a:solidFill>
                  <a:schemeClr val="accent1"/>
                </a:solidFill>
              </a:rPr>
              <a:t>Y </a:t>
            </a:r>
            <a:pPr indent="0" marL="0">
              <a:spcAft>
                <a:spcPts val="1200"/>
              </a:spcAft>
              <a:buNone/>
            </a:pPr>
            <a:r>
              <a:rPr lang="en-US" sz="1600" dirty="0">
                <a:solidFill>
                  <a:schemeClr val="tx1"/>
                </a:solidFill>
              </a:rPr>
              <a:t>la solicitud permanece «En evaluación»</a:t>
            </a:r>
            <a:endParaRPr lang="en-US" sz="1600" dirty="0"/>
          </a:p>
        </p:txBody>
      </p:sp>
      <p:sp>
        <p:nvSpPr>
          <p:cNvPr id="6" name="bdd-1"/>
          <p:cNvSpPr/>
          <p:nvPr/>
        </p:nvSpPr>
        <p:spPr>
          <a:xfrm>
            <a:off x="6217920" y="1325880"/>
            <a:ext cx="5394960" cy="3566160"/>
          </a:xfrm>
          <a:prstGeom prst="roundRect">
            <a:avLst>
              <a:gd name="adj" fmla="val 3077"/>
            </a:avLst>
          </a:prstGeom>
          <a:solidFill>
            <a:schemeClr val="bg2"/>
          </a:solidFill>
          <a:ln/>
        </p:spPr>
      </p:sp>
      <p:sp>
        <p:nvSpPr>
          <p:cNvPr id="7" name="Text 5"/>
          <p:cNvSpPr txBox="1"/>
          <p:nvPr/>
        </p:nvSpPr>
        <p:spPr>
          <a:xfrm>
            <a:off x="6537960" y="1508760"/>
            <a:ext cx="4754880" cy="457200"/>
          </a:xfrm>
          <a:prstGeom prst="rect">
            <a:avLst/>
          </a:prstGeom>
          <a:noFill/>
          <a:ln/>
        </p:spPr>
        <p:txBody>
          <a:bodyPr wrap="square" lIns="0" tIns="0" rIns="0" bIns="0" rtlCol="0" anchor="t"/>
          <a:lstStyle/>
          <a:p>
            <a:pPr indent="0" marL="0">
              <a:buNone/>
            </a:pPr>
            <a:r>
              <a:rPr lang="en-US" sz="1700" b="1" dirty="0">
                <a:solidFill>
                  <a:schemeClr val="tx2"/>
                </a:solidFill>
              </a:rPr>
              <a:t>Escenario: Resolver sin respuesta registrada</a:t>
            </a:r>
            <a:endParaRPr lang="en-US" sz="1700" dirty="0"/>
          </a:p>
        </p:txBody>
      </p:sp>
      <p:sp>
        <p:nvSpPr>
          <p:cNvPr id="8" name="Text 6"/>
          <p:cNvSpPr txBox="1"/>
          <p:nvPr/>
        </p:nvSpPr>
        <p:spPr>
          <a:xfrm>
            <a:off x="6537960" y="2103120"/>
            <a:ext cx="4754880" cy="2651760"/>
          </a:xfrm>
          <a:prstGeom prst="rect">
            <a:avLst/>
          </a:prstGeom>
          <a:noFill/>
          <a:ln/>
        </p:spPr>
        <p:txBody>
          <a:bodyPr wrap="square" lIns="0" tIns="0" rIns="0" bIns="0" rtlCol="0" anchor="t"/>
          <a:lstStyle/>
          <a:p>
            <a:pPr indent="0" marL="0">
              <a:spcAft>
                <a:spcPts val="1200"/>
              </a:spcAft>
              <a:buNone/>
            </a:pPr>
            <a:r>
              <a:rPr lang="en-US" sz="1600" b="1" dirty="0">
                <a:solidFill>
                  <a:schemeClr val="accent1"/>
                </a:solidFill>
              </a:rPr>
              <a:t>Dado </a:t>
            </a:r>
            <a:pPr indent="0" marL="0">
              <a:spcAft>
                <a:spcPts val="1200"/>
              </a:spcAft>
              <a:buNone/>
            </a:pPr>
            <a:r>
              <a:rPr lang="en-US" sz="1600" dirty="0">
                <a:solidFill>
                  <a:schemeClr val="tx1"/>
                </a:solidFill>
              </a:rPr>
              <a:t>que la solicitud está «En atención» sin respuesta registrada</a:t>
            </a:r>
            <a:endParaRPr lang="en-US" sz="1600" dirty="0"/>
          </a:p>
          <a:p>
            <a:pPr indent="0" marL="0">
              <a:spcAft>
                <a:spcPts val="1200"/>
              </a:spcAft>
              <a:buNone/>
            </a:pPr>
            <a:r>
              <a:rPr lang="en-US" sz="1600" b="1" dirty="0">
                <a:solidFill>
                  <a:schemeClr val="accent1"/>
                </a:solidFill>
              </a:rPr>
              <a:t>Cuando </a:t>
            </a:r>
            <a:pPr indent="0" marL="0">
              <a:spcAft>
                <a:spcPts val="1200"/>
              </a:spcAft>
              <a:buNone/>
            </a:pPr>
            <a:r>
              <a:rPr lang="en-US" sz="1600" dirty="0">
                <a:solidFill>
                  <a:schemeClr val="tx1"/>
                </a:solidFill>
              </a:rPr>
              <a:t>el personal intenta marcarla como resuelta</a:t>
            </a:r>
            <a:endParaRPr lang="en-US" sz="1600" dirty="0"/>
          </a:p>
          <a:p>
            <a:pPr indent="0" marL="0">
              <a:spcAft>
                <a:spcPts val="1200"/>
              </a:spcAft>
              <a:buNone/>
            </a:pPr>
            <a:r>
              <a:rPr lang="en-US" sz="1600" b="1" dirty="0">
                <a:solidFill>
                  <a:schemeClr val="accent1"/>
                </a:solidFill>
              </a:rPr>
              <a:t>Entonces </a:t>
            </a:r>
            <a:pPr indent="0" marL="0">
              <a:spcAft>
                <a:spcPts val="1200"/>
              </a:spcAft>
              <a:buNone/>
            </a:pPr>
            <a:r>
              <a:rPr lang="en-US" sz="1600" dirty="0">
                <a:solidFill>
                  <a:schemeClr val="tx1"/>
                </a:solidFill>
              </a:rPr>
              <a:t>la acción está bloqueada y se indica «Registra una respuesta para poder resolver.»</a:t>
            </a:r>
            <a:endParaRPr lang="en-US" sz="1600" dirty="0"/>
          </a:p>
          <a:p>
            <a:pPr indent="0" marL="0">
              <a:spcAft>
                <a:spcPts val="1200"/>
              </a:spcAft>
              <a:buNone/>
            </a:pPr>
            <a:r>
              <a:rPr lang="en-US" sz="1600" b="1" dirty="0">
                <a:solidFill>
                  <a:schemeClr val="accent1"/>
                </a:solidFill>
              </a:rPr>
              <a:t>Y </a:t>
            </a:r>
            <a:pPr indent="0" marL="0">
              <a:spcAft>
                <a:spcPts val="1200"/>
              </a:spcAft>
              <a:buNone/>
            </a:pPr>
            <a:r>
              <a:rPr lang="en-US" sz="1600" dirty="0">
                <a:solidFill>
                  <a:schemeClr val="tx1"/>
                </a:solidFill>
              </a:rPr>
              <a:t>el estado no cambia</a:t>
            </a:r>
            <a:endParaRPr lang="en-US" sz="1600" dirty="0"/>
          </a:p>
        </p:txBody>
      </p:sp>
      <p:sp>
        <p:nvSpPr>
          <p:cNvPr id="9" name="bdd-note"/>
          <p:cNvSpPr/>
          <p:nvPr/>
        </p:nvSpPr>
        <p:spPr>
          <a:xfrm>
            <a:off x="548640" y="5166360"/>
            <a:ext cx="11064240" cy="731520"/>
          </a:xfrm>
          <a:prstGeom prst="roundRect">
            <a:avLst>
              <a:gd name="adj" fmla="val 15000"/>
            </a:avLst>
          </a:prstGeom>
          <a:solidFill>
            <a:schemeClr val="tx2"/>
          </a:solidFill>
          <a:ln/>
        </p:spPr>
      </p:sp>
      <p:sp>
        <p:nvSpPr>
          <p:cNvPr id="10" name="circle-bdd-note"/>
          <p:cNvSpPr/>
          <p:nvPr/>
        </p:nvSpPr>
        <p:spPr>
          <a:xfrm>
            <a:off x="731520" y="5303520"/>
            <a:ext cx="457200" cy="457200"/>
          </a:xfrm>
          <a:prstGeom prst="ellipse">
            <a:avLst/>
          </a:prstGeom>
          <a:solidFill>
            <a:schemeClr val="accent1"/>
          </a:solidFill>
          <a:ln/>
        </p:spPr>
      </p:sp>
      <p:pic>
        <p:nvPicPr>
          <p:cNvPr id="11" name="icon-bdd-note" descr="LuFlaskConical">    </p:cNvPr>
          <p:cNvPicPr>
            <a:picLocks noChangeAspect="1"/>
          </p:cNvPicPr>
          <p:nvPr/>
        </p:nvPicPr>
        <p:blipFill>
          <a:blip r:embed="rId1"/>
          <a:stretch>
            <a:fillRect/>
          </a:stretch>
        </p:blipFill>
        <p:spPr>
          <a:xfrm>
            <a:off x="841248" y="5413248"/>
            <a:ext cx="237744" cy="237744"/>
          </a:xfrm>
          <a:prstGeom prst="rect">
            <a:avLst/>
          </a:prstGeom>
        </p:spPr>
      </p:pic>
      <p:sp>
        <p:nvSpPr>
          <p:cNvPr id="12" name="Text 9"/>
          <p:cNvSpPr txBox="1"/>
          <p:nvPr/>
        </p:nvSpPr>
        <p:spPr>
          <a:xfrm>
            <a:off x="1371600" y="5166360"/>
            <a:ext cx="10058400" cy="731520"/>
          </a:xfrm>
          <a:prstGeom prst="rect">
            <a:avLst/>
          </a:prstGeom>
          <a:noFill/>
          <a:ln/>
        </p:spPr>
        <p:txBody>
          <a:bodyPr wrap="square" lIns="0" tIns="0" rIns="0" bIns="0" rtlCol="0" anchor="ctr"/>
          <a:lstStyle/>
          <a:p>
            <a:pPr indent="0" marL="0">
              <a:buNone/>
            </a:pPr>
            <a:r>
              <a:rPr lang="en-US" sz="1500" dirty="0">
                <a:solidFill>
                  <a:schemeClr val="bg1"/>
                </a:solidFill>
              </a:rPr>
              <a:t>Ambos escenarios están implementados en la capa de datos y cubiertos por pruebas automatizadas (Vitest).</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Ciclo de vida de una solicitud</a:t>
            </a:r>
            <a:endParaRPr lang="en-US" sz="3400" dirty="0"/>
          </a:p>
        </p:txBody>
      </p:sp>
      <p:sp>
        <p:nvSpPr>
          <p:cNvPr id="3" name="state-0"/>
          <p:cNvSpPr/>
          <p:nvPr/>
        </p:nvSpPr>
        <p:spPr>
          <a:xfrm>
            <a:off x="548640" y="1737360"/>
            <a:ext cx="1600200" cy="777240"/>
          </a:xfrm>
          <a:prstGeom prst="roundRect">
            <a:avLst>
              <a:gd name="adj" fmla="val 14118"/>
            </a:avLst>
          </a:prstGeom>
          <a:solidFill>
            <a:schemeClr val="accent6"/>
          </a:solidFill>
          <a:ln/>
        </p:spPr>
      </p:sp>
      <p:sp>
        <p:nvSpPr>
          <p:cNvPr id="4" name="Text 2"/>
          <p:cNvSpPr txBox="1"/>
          <p:nvPr/>
        </p:nvSpPr>
        <p:spPr>
          <a:xfrm>
            <a:off x="548640" y="173736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Registrada</a:t>
            </a:r>
            <a:endParaRPr lang="en-US" sz="1500" dirty="0"/>
          </a:p>
        </p:txBody>
      </p:sp>
      <p:sp>
        <p:nvSpPr>
          <p:cNvPr id="5" name="arrow-0"/>
          <p:cNvSpPr/>
          <p:nvPr/>
        </p:nvSpPr>
        <p:spPr>
          <a:xfrm>
            <a:off x="2176272" y="2125980"/>
            <a:ext cx="237744" cy="0"/>
          </a:xfrm>
          <a:prstGeom prst="line">
            <a:avLst/>
          </a:prstGeom>
          <a:noFill/>
          <a:ln w="22225">
            <a:solidFill>
              <a:schemeClr val="tx1"/>
            </a:solidFill>
            <a:prstDash val="solid"/>
            <a:tailEnd type="triangle"/>
          </a:ln>
        </p:spPr>
      </p:sp>
      <p:sp>
        <p:nvSpPr>
          <p:cNvPr id="6" name="state-1"/>
          <p:cNvSpPr/>
          <p:nvPr/>
        </p:nvSpPr>
        <p:spPr>
          <a:xfrm>
            <a:off x="2441448" y="1737360"/>
            <a:ext cx="1600200" cy="777240"/>
          </a:xfrm>
          <a:prstGeom prst="roundRect">
            <a:avLst>
              <a:gd name="adj" fmla="val 14118"/>
            </a:avLst>
          </a:prstGeom>
          <a:solidFill>
            <a:schemeClr val="accent5"/>
          </a:solidFill>
          <a:ln/>
        </p:spPr>
      </p:sp>
      <p:sp>
        <p:nvSpPr>
          <p:cNvPr id="7" name="Text 5"/>
          <p:cNvSpPr txBox="1"/>
          <p:nvPr/>
        </p:nvSpPr>
        <p:spPr>
          <a:xfrm>
            <a:off x="2441448" y="173736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En evaluación</a:t>
            </a:r>
            <a:endParaRPr lang="en-US" sz="1500" dirty="0"/>
          </a:p>
        </p:txBody>
      </p:sp>
      <p:sp>
        <p:nvSpPr>
          <p:cNvPr id="8" name="arrow-1"/>
          <p:cNvSpPr/>
          <p:nvPr/>
        </p:nvSpPr>
        <p:spPr>
          <a:xfrm>
            <a:off x="4069080" y="2125980"/>
            <a:ext cx="237744" cy="0"/>
          </a:xfrm>
          <a:prstGeom prst="line">
            <a:avLst/>
          </a:prstGeom>
          <a:noFill/>
          <a:ln w="22225">
            <a:solidFill>
              <a:schemeClr val="tx1"/>
            </a:solidFill>
            <a:prstDash val="solid"/>
            <a:tailEnd type="triangle"/>
          </a:ln>
        </p:spPr>
      </p:sp>
      <p:sp>
        <p:nvSpPr>
          <p:cNvPr id="9" name="state-2"/>
          <p:cNvSpPr/>
          <p:nvPr/>
        </p:nvSpPr>
        <p:spPr>
          <a:xfrm>
            <a:off x="4334256" y="1737360"/>
            <a:ext cx="1600200" cy="777240"/>
          </a:xfrm>
          <a:prstGeom prst="roundRect">
            <a:avLst>
              <a:gd name="adj" fmla="val 14118"/>
            </a:avLst>
          </a:prstGeom>
          <a:solidFill>
            <a:schemeClr val="accent1"/>
          </a:solidFill>
          <a:ln/>
        </p:spPr>
      </p:sp>
      <p:sp>
        <p:nvSpPr>
          <p:cNvPr id="10" name="Text 8"/>
          <p:cNvSpPr txBox="1"/>
          <p:nvPr/>
        </p:nvSpPr>
        <p:spPr>
          <a:xfrm>
            <a:off x="4334256" y="173736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Asignada</a:t>
            </a:r>
            <a:endParaRPr lang="en-US" sz="1500" dirty="0"/>
          </a:p>
        </p:txBody>
      </p:sp>
      <p:sp>
        <p:nvSpPr>
          <p:cNvPr id="11" name="arrow-2"/>
          <p:cNvSpPr/>
          <p:nvPr/>
        </p:nvSpPr>
        <p:spPr>
          <a:xfrm>
            <a:off x="5961888" y="2125980"/>
            <a:ext cx="237744" cy="0"/>
          </a:xfrm>
          <a:prstGeom prst="line">
            <a:avLst/>
          </a:prstGeom>
          <a:noFill/>
          <a:ln w="22225">
            <a:solidFill>
              <a:schemeClr val="tx1"/>
            </a:solidFill>
            <a:prstDash val="solid"/>
            <a:tailEnd type="triangle"/>
          </a:ln>
        </p:spPr>
      </p:sp>
      <p:sp>
        <p:nvSpPr>
          <p:cNvPr id="12" name="state-3"/>
          <p:cNvSpPr/>
          <p:nvPr/>
        </p:nvSpPr>
        <p:spPr>
          <a:xfrm>
            <a:off x="6227064" y="1737360"/>
            <a:ext cx="1600200" cy="777240"/>
          </a:xfrm>
          <a:prstGeom prst="roundRect">
            <a:avLst>
              <a:gd name="adj" fmla="val 14118"/>
            </a:avLst>
          </a:prstGeom>
          <a:solidFill>
            <a:schemeClr val="tx2"/>
          </a:solidFill>
          <a:ln/>
        </p:spPr>
      </p:sp>
      <p:sp>
        <p:nvSpPr>
          <p:cNvPr id="13" name="Text 11"/>
          <p:cNvSpPr txBox="1"/>
          <p:nvPr/>
        </p:nvSpPr>
        <p:spPr>
          <a:xfrm>
            <a:off x="6227064" y="173736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En atención</a:t>
            </a:r>
            <a:endParaRPr lang="en-US" sz="1500" dirty="0"/>
          </a:p>
        </p:txBody>
      </p:sp>
      <p:sp>
        <p:nvSpPr>
          <p:cNvPr id="14" name="arrow-3"/>
          <p:cNvSpPr/>
          <p:nvPr/>
        </p:nvSpPr>
        <p:spPr>
          <a:xfrm>
            <a:off x="7854696" y="2125980"/>
            <a:ext cx="237744" cy="0"/>
          </a:xfrm>
          <a:prstGeom prst="line">
            <a:avLst/>
          </a:prstGeom>
          <a:noFill/>
          <a:ln w="22225">
            <a:solidFill>
              <a:schemeClr val="tx1"/>
            </a:solidFill>
            <a:prstDash val="solid"/>
            <a:tailEnd type="triangle"/>
          </a:ln>
        </p:spPr>
      </p:sp>
      <p:sp>
        <p:nvSpPr>
          <p:cNvPr id="15" name="state-4"/>
          <p:cNvSpPr/>
          <p:nvPr/>
        </p:nvSpPr>
        <p:spPr>
          <a:xfrm>
            <a:off x="8119872" y="1737360"/>
            <a:ext cx="1600200" cy="777240"/>
          </a:xfrm>
          <a:prstGeom prst="roundRect">
            <a:avLst>
              <a:gd name="adj" fmla="val 14118"/>
            </a:avLst>
          </a:prstGeom>
          <a:solidFill>
            <a:schemeClr val="accent4"/>
          </a:solidFill>
          <a:ln/>
        </p:spPr>
      </p:sp>
      <p:sp>
        <p:nvSpPr>
          <p:cNvPr id="16" name="Text 14"/>
          <p:cNvSpPr txBox="1"/>
          <p:nvPr/>
        </p:nvSpPr>
        <p:spPr>
          <a:xfrm>
            <a:off x="8119872" y="173736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Resuelta</a:t>
            </a:r>
            <a:endParaRPr lang="en-US" sz="1500" dirty="0"/>
          </a:p>
        </p:txBody>
      </p:sp>
      <p:sp>
        <p:nvSpPr>
          <p:cNvPr id="17" name="arrow-4"/>
          <p:cNvSpPr/>
          <p:nvPr/>
        </p:nvSpPr>
        <p:spPr>
          <a:xfrm>
            <a:off x="9747504" y="2125980"/>
            <a:ext cx="237744" cy="0"/>
          </a:xfrm>
          <a:prstGeom prst="line">
            <a:avLst/>
          </a:prstGeom>
          <a:noFill/>
          <a:ln w="22225">
            <a:solidFill>
              <a:schemeClr val="tx1"/>
            </a:solidFill>
            <a:prstDash val="solid"/>
            <a:tailEnd type="triangle"/>
          </a:ln>
        </p:spPr>
      </p:sp>
      <p:sp>
        <p:nvSpPr>
          <p:cNvPr id="18" name="state-5"/>
          <p:cNvSpPr/>
          <p:nvPr/>
        </p:nvSpPr>
        <p:spPr>
          <a:xfrm>
            <a:off x="10012680" y="1737360"/>
            <a:ext cx="1600200" cy="777240"/>
          </a:xfrm>
          <a:prstGeom prst="roundRect">
            <a:avLst>
              <a:gd name="adj" fmla="val 14118"/>
            </a:avLst>
          </a:prstGeom>
          <a:solidFill>
            <a:schemeClr val="accent6"/>
          </a:solidFill>
          <a:ln/>
        </p:spPr>
      </p:sp>
      <p:sp>
        <p:nvSpPr>
          <p:cNvPr id="19" name="Text 17"/>
          <p:cNvSpPr txBox="1"/>
          <p:nvPr/>
        </p:nvSpPr>
        <p:spPr>
          <a:xfrm>
            <a:off x="10012680" y="173736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Cerrada</a:t>
            </a:r>
            <a:endParaRPr lang="en-US" sz="1500" dirty="0"/>
          </a:p>
        </p:txBody>
      </p:sp>
      <p:sp>
        <p:nvSpPr>
          <p:cNvPr id="20" name="state-observada"/>
          <p:cNvSpPr/>
          <p:nvPr/>
        </p:nvSpPr>
        <p:spPr>
          <a:xfrm>
            <a:off x="2441448" y="3520440"/>
            <a:ext cx="5385816" cy="777240"/>
          </a:xfrm>
          <a:prstGeom prst="roundRect">
            <a:avLst>
              <a:gd name="adj" fmla="val 14118"/>
            </a:avLst>
          </a:prstGeom>
          <a:solidFill>
            <a:schemeClr val="accent3"/>
          </a:solidFill>
          <a:ln/>
        </p:spPr>
      </p:sp>
      <p:sp>
        <p:nvSpPr>
          <p:cNvPr id="21" name="Text 19"/>
          <p:cNvSpPr txBox="1"/>
          <p:nvPr/>
        </p:nvSpPr>
        <p:spPr>
          <a:xfrm>
            <a:off x="2441448" y="3520440"/>
            <a:ext cx="5385816" cy="777240"/>
          </a:xfrm>
          <a:prstGeom prst="rect">
            <a:avLst/>
          </a:prstGeom>
          <a:noFill/>
          <a:ln/>
        </p:spPr>
        <p:txBody>
          <a:bodyPr wrap="square" lIns="0" tIns="0" rIns="0" bIns="0" rtlCol="0" anchor="ctr"/>
          <a:lstStyle/>
          <a:p>
            <a:pPr algn="ctr" indent="0" marL="0">
              <a:buNone/>
            </a:pPr>
            <a:r>
              <a:rPr lang="en-US" sz="1500" b="1" dirty="0">
                <a:solidFill>
                  <a:schemeClr val="tx1"/>
                </a:solidFill>
              </a:rPr>
              <a:t>Observada · el estudiante debe corregir</a:t>
            </a:r>
            <a:endParaRPr lang="en-US" sz="1500" dirty="0"/>
          </a:p>
        </p:txBody>
      </p:sp>
      <p:sp>
        <p:nvSpPr>
          <p:cNvPr id="22" name="obs-from-eval"/>
          <p:cNvSpPr/>
          <p:nvPr/>
        </p:nvSpPr>
        <p:spPr>
          <a:xfrm>
            <a:off x="2898648" y="2560320"/>
            <a:ext cx="0" cy="914400"/>
          </a:xfrm>
          <a:prstGeom prst="line">
            <a:avLst/>
          </a:prstGeom>
          <a:noFill/>
          <a:ln w="22225">
            <a:solidFill>
              <a:schemeClr val="tx1"/>
            </a:solidFill>
            <a:prstDash val="solid"/>
            <a:tailEnd type="triangle"/>
          </a:ln>
        </p:spPr>
      </p:sp>
      <p:sp>
        <p:nvSpPr>
          <p:cNvPr id="23" name="obs-from-atencion"/>
          <p:cNvSpPr/>
          <p:nvPr/>
        </p:nvSpPr>
        <p:spPr>
          <a:xfrm>
            <a:off x="7027164" y="2560320"/>
            <a:ext cx="0" cy="914400"/>
          </a:xfrm>
          <a:prstGeom prst="line">
            <a:avLst/>
          </a:prstGeom>
          <a:noFill/>
          <a:ln w="22225">
            <a:solidFill>
              <a:schemeClr val="tx1"/>
            </a:solidFill>
            <a:prstDash val="solid"/>
            <a:tailEnd type="triangle"/>
          </a:ln>
        </p:spPr>
      </p:sp>
      <p:sp>
        <p:nvSpPr>
          <p:cNvPr id="24" name="correccion"/>
          <p:cNvSpPr/>
          <p:nvPr/>
        </p:nvSpPr>
        <p:spPr>
          <a:xfrm>
            <a:off x="3584448" y="2560320"/>
            <a:ext cx="0" cy="914400"/>
          </a:xfrm>
          <a:prstGeom prst="line">
            <a:avLst/>
          </a:prstGeom>
          <a:noFill/>
          <a:ln w="22225">
            <a:solidFill>
              <a:schemeClr val="accent3"/>
            </a:solidFill>
            <a:prstDash val="solid"/>
            <a:headEnd type="triangle"/>
          </a:ln>
        </p:spPr>
      </p:sp>
      <p:sp>
        <p:nvSpPr>
          <p:cNvPr id="25" name="Text 23"/>
          <p:cNvSpPr txBox="1"/>
          <p:nvPr/>
        </p:nvSpPr>
        <p:spPr>
          <a:xfrm>
            <a:off x="2029968" y="2788920"/>
            <a:ext cx="822960" cy="274320"/>
          </a:xfrm>
          <a:prstGeom prst="rect">
            <a:avLst/>
          </a:prstGeom>
          <a:noFill/>
          <a:ln/>
        </p:spPr>
        <p:txBody>
          <a:bodyPr wrap="square" lIns="0" tIns="0" rIns="0" bIns="0" rtlCol="0" anchor="t"/>
          <a:lstStyle/>
          <a:p>
            <a:pPr algn="r" indent="0" marL="0">
              <a:buNone/>
            </a:pPr>
            <a:r>
              <a:rPr lang="en-US" sz="1100" dirty="0">
                <a:solidFill>
                  <a:schemeClr val="accent6"/>
                </a:solidFill>
              </a:rPr>
              <a:t>observa</a:t>
            </a:r>
            <a:endParaRPr lang="en-US" sz="1100" dirty="0"/>
          </a:p>
        </p:txBody>
      </p:sp>
      <p:sp>
        <p:nvSpPr>
          <p:cNvPr id="26" name="Text 24"/>
          <p:cNvSpPr txBox="1"/>
          <p:nvPr/>
        </p:nvSpPr>
        <p:spPr>
          <a:xfrm>
            <a:off x="3675888" y="2788920"/>
            <a:ext cx="914400" cy="274320"/>
          </a:xfrm>
          <a:prstGeom prst="rect">
            <a:avLst/>
          </a:prstGeom>
          <a:noFill/>
          <a:ln/>
        </p:spPr>
        <p:txBody>
          <a:bodyPr wrap="square" lIns="0" tIns="0" rIns="0" bIns="0" rtlCol="0" anchor="t"/>
          <a:lstStyle/>
          <a:p>
            <a:pPr indent="0" marL="0">
              <a:buNone/>
            </a:pPr>
            <a:r>
              <a:rPr lang="en-US" sz="1100" b="1" dirty="0">
                <a:solidFill>
                  <a:schemeClr val="accent3"/>
                </a:solidFill>
              </a:rPr>
              <a:t>corrige</a:t>
            </a:r>
            <a:endParaRPr lang="en-US" sz="1100" dirty="0"/>
          </a:p>
        </p:txBody>
      </p:sp>
      <p:sp>
        <p:nvSpPr>
          <p:cNvPr id="27" name="Text 25"/>
          <p:cNvSpPr txBox="1"/>
          <p:nvPr/>
        </p:nvSpPr>
        <p:spPr>
          <a:xfrm>
            <a:off x="7118604" y="2788920"/>
            <a:ext cx="914400" cy="274320"/>
          </a:xfrm>
          <a:prstGeom prst="rect">
            <a:avLst/>
          </a:prstGeom>
          <a:noFill/>
          <a:ln/>
        </p:spPr>
        <p:txBody>
          <a:bodyPr wrap="square" lIns="0" tIns="0" rIns="0" bIns="0" rtlCol="0" anchor="t"/>
          <a:lstStyle/>
          <a:p>
            <a:pPr indent="0" marL="0">
              <a:buNone/>
            </a:pPr>
            <a:r>
              <a:rPr lang="en-US" sz="1100" dirty="0">
                <a:solidFill>
                  <a:schemeClr val="accent6"/>
                </a:solidFill>
              </a:rPr>
              <a:t>observa</a:t>
            </a:r>
            <a:endParaRPr lang="en-US" sz="1100" dirty="0"/>
          </a:p>
        </p:txBody>
      </p:sp>
      <p:sp>
        <p:nvSpPr>
          <p:cNvPr id="28" name="Text 26"/>
          <p:cNvSpPr txBox="1"/>
          <p:nvPr/>
        </p:nvSpPr>
        <p:spPr>
          <a:xfrm>
            <a:off x="3136392" y="1371600"/>
            <a:ext cx="2103120" cy="274320"/>
          </a:xfrm>
          <a:prstGeom prst="rect">
            <a:avLst/>
          </a:prstGeom>
          <a:noFill/>
          <a:ln/>
        </p:spPr>
        <p:txBody>
          <a:bodyPr wrap="square" lIns="0" tIns="0" rIns="0" bIns="0" rtlCol="0" anchor="t"/>
          <a:lstStyle/>
          <a:p>
            <a:pPr algn="ctr" indent="0" marL="0">
              <a:buNone/>
            </a:pPr>
            <a:r>
              <a:rPr lang="en-US" sz="1100" dirty="0">
                <a:solidFill>
                  <a:schemeClr val="accent6"/>
                </a:solidFill>
              </a:rPr>
              <a:t>asigna responsable</a:t>
            </a:r>
            <a:endParaRPr lang="en-US" sz="1100" dirty="0"/>
          </a:p>
        </p:txBody>
      </p:sp>
      <p:sp>
        <p:nvSpPr>
          <p:cNvPr id="29" name="legend-0"/>
          <p:cNvSpPr/>
          <p:nvPr/>
        </p:nvSpPr>
        <p:spPr>
          <a:xfrm>
            <a:off x="548640" y="4663440"/>
            <a:ext cx="3474720" cy="1371600"/>
          </a:xfrm>
          <a:prstGeom prst="roundRect">
            <a:avLst>
              <a:gd name="adj" fmla="val 8000"/>
            </a:avLst>
          </a:prstGeom>
          <a:solidFill>
            <a:schemeClr val="bg2"/>
          </a:solidFill>
          <a:ln/>
        </p:spPr>
      </p:sp>
      <p:sp>
        <p:nvSpPr>
          <p:cNvPr id="30" name="circle-legend-0"/>
          <p:cNvSpPr/>
          <p:nvPr/>
        </p:nvSpPr>
        <p:spPr>
          <a:xfrm>
            <a:off x="777240" y="4846320"/>
            <a:ext cx="457200" cy="457200"/>
          </a:xfrm>
          <a:prstGeom prst="ellipse">
            <a:avLst/>
          </a:prstGeom>
          <a:solidFill>
            <a:schemeClr val="accent1"/>
          </a:solidFill>
          <a:ln/>
        </p:spPr>
      </p:sp>
      <p:pic>
        <p:nvPicPr>
          <p:cNvPr id="31" name="icon-legend-0" descr="LuGraduationCap">    </p:cNvPr>
          <p:cNvPicPr>
            <a:picLocks noChangeAspect="1"/>
          </p:cNvPicPr>
          <p:nvPr/>
        </p:nvPicPr>
        <p:blipFill>
          <a:blip r:embed="rId1"/>
          <a:stretch>
            <a:fillRect/>
          </a:stretch>
        </p:blipFill>
        <p:spPr>
          <a:xfrm>
            <a:off x="886968" y="4956048"/>
            <a:ext cx="237744" cy="237744"/>
          </a:xfrm>
          <a:prstGeom prst="rect">
            <a:avLst/>
          </a:prstGeom>
        </p:spPr>
      </p:pic>
      <p:sp>
        <p:nvSpPr>
          <p:cNvPr id="32" name="Text 29"/>
          <p:cNvSpPr txBox="1"/>
          <p:nvPr/>
        </p:nvSpPr>
        <p:spPr>
          <a:xfrm>
            <a:off x="1371600" y="4846320"/>
            <a:ext cx="2468880" cy="457200"/>
          </a:xfrm>
          <a:prstGeom prst="rect">
            <a:avLst/>
          </a:prstGeom>
          <a:noFill/>
          <a:ln/>
        </p:spPr>
        <p:txBody>
          <a:bodyPr wrap="square" lIns="0" tIns="0" rIns="0" bIns="0" rtlCol="0" anchor="ctr"/>
          <a:lstStyle/>
          <a:p>
            <a:pPr indent="0" marL="0">
              <a:buNone/>
            </a:pPr>
            <a:r>
              <a:rPr lang="en-US" sz="1600" b="1" dirty="0">
                <a:solidFill>
                  <a:schemeClr val="tx2"/>
                </a:solidFill>
              </a:rPr>
              <a:t>Estudiante</a:t>
            </a:r>
            <a:endParaRPr lang="en-US" sz="1600" dirty="0"/>
          </a:p>
        </p:txBody>
      </p:sp>
      <p:sp>
        <p:nvSpPr>
          <p:cNvPr id="33" name="Text 30"/>
          <p:cNvSpPr txBox="1"/>
          <p:nvPr/>
        </p:nvSpPr>
        <p:spPr>
          <a:xfrm>
            <a:off x="777240" y="5349240"/>
            <a:ext cx="3063240" cy="640080"/>
          </a:xfrm>
          <a:prstGeom prst="rect">
            <a:avLst/>
          </a:prstGeom>
          <a:noFill/>
          <a:ln/>
        </p:spPr>
        <p:txBody>
          <a:bodyPr wrap="square" lIns="0" tIns="0" rIns="0" bIns="0" rtlCol="0" anchor="t"/>
          <a:lstStyle/>
          <a:p>
            <a:pPr indent="0" marL="0">
              <a:buNone/>
            </a:pPr>
            <a:r>
              <a:rPr lang="en-US" sz="1300" dirty="0">
                <a:solidFill>
                  <a:schemeClr val="tx1"/>
                </a:solidFill>
              </a:rPr>
              <a:t>Registra la solicitud y envía la corrección cuando está observada.</a:t>
            </a:r>
            <a:endParaRPr lang="en-US" sz="1300" dirty="0"/>
          </a:p>
        </p:txBody>
      </p:sp>
      <p:sp>
        <p:nvSpPr>
          <p:cNvPr id="34" name="legend-1"/>
          <p:cNvSpPr/>
          <p:nvPr/>
        </p:nvSpPr>
        <p:spPr>
          <a:xfrm>
            <a:off x="4297680" y="4663440"/>
            <a:ext cx="3474720" cy="1371600"/>
          </a:xfrm>
          <a:prstGeom prst="roundRect">
            <a:avLst>
              <a:gd name="adj" fmla="val 8000"/>
            </a:avLst>
          </a:prstGeom>
          <a:solidFill>
            <a:schemeClr val="bg2"/>
          </a:solidFill>
          <a:ln/>
        </p:spPr>
      </p:sp>
      <p:sp>
        <p:nvSpPr>
          <p:cNvPr id="35" name="circle-legend-1"/>
          <p:cNvSpPr/>
          <p:nvPr/>
        </p:nvSpPr>
        <p:spPr>
          <a:xfrm>
            <a:off x="4526280" y="4846320"/>
            <a:ext cx="457200" cy="457200"/>
          </a:xfrm>
          <a:prstGeom prst="ellipse">
            <a:avLst/>
          </a:prstGeom>
          <a:solidFill>
            <a:schemeClr val="accent1"/>
          </a:solidFill>
          <a:ln/>
        </p:spPr>
      </p:sp>
      <p:pic>
        <p:nvPicPr>
          <p:cNvPr id="36" name="icon-legend-1" descr="LuBriefcase">    </p:cNvPr>
          <p:cNvPicPr>
            <a:picLocks noChangeAspect="1"/>
          </p:cNvPicPr>
          <p:nvPr/>
        </p:nvPicPr>
        <p:blipFill>
          <a:blip r:embed="rId2"/>
          <a:stretch>
            <a:fillRect/>
          </a:stretch>
        </p:blipFill>
        <p:spPr>
          <a:xfrm>
            <a:off x="4636008" y="4956048"/>
            <a:ext cx="237744" cy="237744"/>
          </a:xfrm>
          <a:prstGeom prst="rect">
            <a:avLst/>
          </a:prstGeom>
        </p:spPr>
      </p:pic>
      <p:sp>
        <p:nvSpPr>
          <p:cNvPr id="37" name="Text 33"/>
          <p:cNvSpPr txBox="1"/>
          <p:nvPr/>
        </p:nvSpPr>
        <p:spPr>
          <a:xfrm>
            <a:off x="5120640" y="4846320"/>
            <a:ext cx="2468880" cy="457200"/>
          </a:xfrm>
          <a:prstGeom prst="rect">
            <a:avLst/>
          </a:prstGeom>
          <a:noFill/>
          <a:ln/>
        </p:spPr>
        <p:txBody>
          <a:bodyPr wrap="square" lIns="0" tIns="0" rIns="0" bIns="0" rtlCol="0" anchor="ctr"/>
          <a:lstStyle/>
          <a:p>
            <a:pPr indent="0" marL="0">
              <a:buNone/>
            </a:pPr>
            <a:r>
              <a:rPr lang="en-US" sz="1600" b="1" dirty="0">
                <a:solidFill>
                  <a:schemeClr val="tx2"/>
                </a:solidFill>
              </a:rPr>
              <a:t>Personal</a:t>
            </a:r>
            <a:endParaRPr lang="en-US" sz="1600" dirty="0"/>
          </a:p>
        </p:txBody>
      </p:sp>
      <p:sp>
        <p:nvSpPr>
          <p:cNvPr id="38" name="Text 34"/>
          <p:cNvSpPr txBox="1"/>
          <p:nvPr/>
        </p:nvSpPr>
        <p:spPr>
          <a:xfrm>
            <a:off x="4526280" y="5349240"/>
            <a:ext cx="3063240" cy="640080"/>
          </a:xfrm>
          <a:prstGeom prst="rect">
            <a:avLst/>
          </a:prstGeom>
          <a:noFill/>
          <a:ln/>
        </p:spPr>
        <p:txBody>
          <a:bodyPr wrap="square" lIns="0" tIns="0" rIns="0" bIns="0" rtlCol="0" anchor="t"/>
          <a:lstStyle/>
          <a:p>
            <a:pPr indent="0" marL="0">
              <a:buNone/>
            </a:pPr>
            <a:r>
              <a:rPr lang="en-US" sz="1300" dirty="0">
                <a:solidFill>
                  <a:schemeClr val="tx1"/>
                </a:solidFill>
              </a:rPr>
              <a:t>Evalúa, observa, asigna, atiende, responde, resuelve y cierra.</a:t>
            </a:r>
            <a:endParaRPr lang="en-US" sz="1300" dirty="0"/>
          </a:p>
        </p:txBody>
      </p:sp>
      <p:sp>
        <p:nvSpPr>
          <p:cNvPr id="39" name="legend-2"/>
          <p:cNvSpPr/>
          <p:nvPr/>
        </p:nvSpPr>
        <p:spPr>
          <a:xfrm>
            <a:off x="8046720" y="4663440"/>
            <a:ext cx="3474720" cy="1371600"/>
          </a:xfrm>
          <a:prstGeom prst="roundRect">
            <a:avLst>
              <a:gd name="adj" fmla="val 8000"/>
            </a:avLst>
          </a:prstGeom>
          <a:solidFill>
            <a:schemeClr val="bg2"/>
          </a:solidFill>
          <a:ln/>
        </p:spPr>
      </p:sp>
      <p:sp>
        <p:nvSpPr>
          <p:cNvPr id="40" name="circle-legend-2"/>
          <p:cNvSpPr/>
          <p:nvPr/>
        </p:nvSpPr>
        <p:spPr>
          <a:xfrm>
            <a:off x="8275320" y="4846320"/>
            <a:ext cx="457200" cy="457200"/>
          </a:xfrm>
          <a:prstGeom prst="ellipse">
            <a:avLst/>
          </a:prstGeom>
          <a:solidFill>
            <a:schemeClr val="accent1"/>
          </a:solidFill>
          <a:ln/>
        </p:spPr>
      </p:sp>
      <p:pic>
        <p:nvPicPr>
          <p:cNvPr id="41" name="icon-legend-2" descr="LuHistory">    </p:cNvPr>
          <p:cNvPicPr>
            <a:picLocks noChangeAspect="1"/>
          </p:cNvPicPr>
          <p:nvPr/>
        </p:nvPicPr>
        <p:blipFill>
          <a:blip r:embed="rId3"/>
          <a:stretch>
            <a:fillRect/>
          </a:stretch>
        </p:blipFill>
        <p:spPr>
          <a:xfrm>
            <a:off x="8385048" y="4956048"/>
            <a:ext cx="237744" cy="237744"/>
          </a:xfrm>
          <a:prstGeom prst="rect">
            <a:avLst/>
          </a:prstGeom>
        </p:spPr>
      </p:pic>
      <p:sp>
        <p:nvSpPr>
          <p:cNvPr id="42" name="Text 37"/>
          <p:cNvSpPr txBox="1"/>
          <p:nvPr/>
        </p:nvSpPr>
        <p:spPr>
          <a:xfrm>
            <a:off x="8869680" y="4846320"/>
            <a:ext cx="2468880" cy="457200"/>
          </a:xfrm>
          <a:prstGeom prst="rect">
            <a:avLst/>
          </a:prstGeom>
          <a:noFill/>
          <a:ln/>
        </p:spPr>
        <p:txBody>
          <a:bodyPr wrap="square" lIns="0" tIns="0" rIns="0" bIns="0" rtlCol="0" anchor="ctr"/>
          <a:lstStyle/>
          <a:p>
            <a:pPr indent="0" marL="0">
              <a:buNone/>
            </a:pPr>
            <a:r>
              <a:rPr lang="en-US" sz="1600" b="1" dirty="0">
                <a:solidFill>
                  <a:schemeClr val="tx2"/>
                </a:solidFill>
              </a:rPr>
              <a:t>Sistema</a:t>
            </a:r>
            <a:endParaRPr lang="en-US" sz="1600" dirty="0"/>
          </a:p>
        </p:txBody>
      </p:sp>
      <p:sp>
        <p:nvSpPr>
          <p:cNvPr id="43" name="Text 38"/>
          <p:cNvSpPr txBox="1"/>
          <p:nvPr/>
        </p:nvSpPr>
        <p:spPr>
          <a:xfrm>
            <a:off x="8275320" y="5349240"/>
            <a:ext cx="3063240" cy="640080"/>
          </a:xfrm>
          <a:prstGeom prst="rect">
            <a:avLst/>
          </a:prstGeom>
          <a:noFill/>
          <a:ln/>
        </p:spPr>
        <p:txBody>
          <a:bodyPr wrap="square" lIns="0" tIns="0" rIns="0" bIns="0" rtlCol="0" anchor="t"/>
          <a:lstStyle/>
          <a:p>
            <a:pPr indent="0" marL="0">
              <a:buNone/>
            </a:pPr>
            <a:r>
              <a:rPr lang="en-US" sz="1300" dirty="0">
                <a:solidFill>
                  <a:schemeClr val="tx1"/>
                </a:solidFill>
              </a:rPr>
              <a:t>Guarda cada cambio en el historial (quién, cuándo, nota) y notifica a la otra parte.</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Arquitectura: hoy local, mañana Spring Boot</a:t>
            </a:r>
            <a:endParaRPr lang="en-US" sz="3400" dirty="0"/>
          </a:p>
        </p:txBody>
      </p:sp>
      <p:sp>
        <p:nvSpPr>
          <p:cNvPr id="3" name="Text 1"/>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600" b="1" dirty="0">
                <a:solidFill>
                  <a:schemeClr val="accent1"/>
                </a:solidFill>
              </a:rPr>
              <a:t>Fase I · hoy</a:t>
            </a:r>
            <a:endParaRPr lang="en-US" sz="1600" dirty="0"/>
          </a:p>
        </p:txBody>
      </p:sp>
      <p:sp>
        <p:nvSpPr>
          <p:cNvPr id="4" name="arch-0-0"/>
          <p:cNvSpPr/>
          <p:nvPr/>
        </p:nvSpPr>
        <p:spPr>
          <a:xfrm>
            <a:off x="548640" y="1828800"/>
            <a:ext cx="1508760" cy="1600200"/>
          </a:xfrm>
          <a:prstGeom prst="roundRect">
            <a:avLst>
              <a:gd name="adj" fmla="val 7273"/>
            </a:avLst>
          </a:prstGeom>
          <a:solidFill>
            <a:schemeClr val="bg2"/>
          </a:solidFill>
          <a:ln/>
        </p:spPr>
      </p:sp>
      <p:sp>
        <p:nvSpPr>
          <p:cNvPr id="5" name="circle-arch-0-0"/>
          <p:cNvSpPr/>
          <p:nvPr/>
        </p:nvSpPr>
        <p:spPr>
          <a:xfrm>
            <a:off x="1051560" y="1965960"/>
            <a:ext cx="502920" cy="502920"/>
          </a:xfrm>
          <a:prstGeom prst="ellipse">
            <a:avLst/>
          </a:prstGeom>
          <a:solidFill>
            <a:schemeClr val="accent1"/>
          </a:solidFill>
          <a:ln/>
        </p:spPr>
      </p:sp>
      <p:pic>
        <p:nvPicPr>
          <p:cNvPr id="6" name="icon-arch-0-0" descr="LuMonitor">    </p:cNvPr>
          <p:cNvPicPr>
            <a:picLocks noChangeAspect="1"/>
          </p:cNvPicPr>
          <p:nvPr/>
        </p:nvPicPr>
        <p:blipFill>
          <a:blip r:embed="rId1"/>
          <a:stretch>
            <a:fillRect/>
          </a:stretch>
        </p:blipFill>
        <p:spPr>
          <a:xfrm>
            <a:off x="1172261" y="2086661"/>
            <a:ext cx="261518" cy="261518"/>
          </a:xfrm>
          <a:prstGeom prst="rect">
            <a:avLst/>
          </a:prstGeom>
        </p:spPr>
      </p:pic>
      <p:sp>
        <p:nvSpPr>
          <p:cNvPr id="7" name="Text 4"/>
          <p:cNvSpPr txBox="1"/>
          <p:nvPr/>
        </p:nvSpPr>
        <p:spPr>
          <a:xfrm>
            <a:off x="594360" y="253288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React</a:t>
            </a:r>
            <a:endParaRPr lang="en-US" sz="1400" dirty="0"/>
          </a:p>
        </p:txBody>
      </p:sp>
      <p:sp>
        <p:nvSpPr>
          <p:cNvPr id="8" name="Text 5"/>
          <p:cNvSpPr txBox="1"/>
          <p:nvPr/>
        </p:nvSpPr>
        <p:spPr>
          <a:xfrm>
            <a:off x="640080" y="285292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pantallas y componentes</a:t>
            </a:r>
            <a:endParaRPr lang="en-US" sz="1100" dirty="0"/>
          </a:p>
        </p:txBody>
      </p:sp>
      <p:sp>
        <p:nvSpPr>
          <p:cNvPr id="9" name="arch-arrow-0-0"/>
          <p:cNvSpPr/>
          <p:nvPr/>
        </p:nvSpPr>
        <p:spPr>
          <a:xfrm>
            <a:off x="2084832" y="2628900"/>
            <a:ext cx="310896" cy="0"/>
          </a:xfrm>
          <a:prstGeom prst="line">
            <a:avLst/>
          </a:prstGeom>
          <a:noFill/>
          <a:ln w="19050">
            <a:solidFill>
              <a:schemeClr val="tx1"/>
            </a:solidFill>
            <a:prstDash val="solid"/>
            <a:tailEnd type="triangle"/>
          </a:ln>
        </p:spPr>
      </p:sp>
      <p:sp>
        <p:nvSpPr>
          <p:cNvPr id="10" name="arch-0-1"/>
          <p:cNvSpPr/>
          <p:nvPr/>
        </p:nvSpPr>
        <p:spPr>
          <a:xfrm>
            <a:off x="2423160" y="1828800"/>
            <a:ext cx="1508760" cy="1600200"/>
          </a:xfrm>
          <a:prstGeom prst="roundRect">
            <a:avLst>
              <a:gd name="adj" fmla="val 7273"/>
            </a:avLst>
          </a:prstGeom>
          <a:solidFill>
            <a:schemeClr val="bg2"/>
          </a:solidFill>
          <a:ln/>
        </p:spPr>
      </p:sp>
      <p:sp>
        <p:nvSpPr>
          <p:cNvPr id="11" name="circle-arch-0-1"/>
          <p:cNvSpPr/>
          <p:nvPr/>
        </p:nvSpPr>
        <p:spPr>
          <a:xfrm>
            <a:off x="2926080" y="1965960"/>
            <a:ext cx="502920" cy="502920"/>
          </a:xfrm>
          <a:prstGeom prst="ellipse">
            <a:avLst/>
          </a:prstGeom>
          <a:solidFill>
            <a:schemeClr val="accent1"/>
          </a:solidFill>
          <a:ln/>
        </p:spPr>
      </p:sp>
      <p:pic>
        <p:nvPicPr>
          <p:cNvPr id="12" name="icon-arch-0-1" descr="LuRoute">    </p:cNvPr>
          <p:cNvPicPr>
            <a:picLocks noChangeAspect="1"/>
          </p:cNvPicPr>
          <p:nvPr/>
        </p:nvPicPr>
        <p:blipFill>
          <a:blip r:embed="rId2"/>
          <a:stretch>
            <a:fillRect/>
          </a:stretch>
        </p:blipFill>
        <p:spPr>
          <a:xfrm>
            <a:off x="3046781" y="2086661"/>
            <a:ext cx="261518" cy="261518"/>
          </a:xfrm>
          <a:prstGeom prst="rect">
            <a:avLst/>
          </a:prstGeom>
        </p:spPr>
      </p:pic>
      <p:sp>
        <p:nvSpPr>
          <p:cNvPr id="13" name="Text 9"/>
          <p:cNvSpPr txBox="1"/>
          <p:nvPr/>
        </p:nvSpPr>
        <p:spPr>
          <a:xfrm>
            <a:off x="2468880" y="253288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TanStack Router</a:t>
            </a:r>
            <a:endParaRPr lang="en-US" sz="1400" dirty="0"/>
          </a:p>
        </p:txBody>
      </p:sp>
      <p:sp>
        <p:nvSpPr>
          <p:cNvPr id="14" name="Text 10"/>
          <p:cNvSpPr txBox="1"/>
          <p:nvPr/>
        </p:nvSpPr>
        <p:spPr>
          <a:xfrm>
            <a:off x="2514600" y="285292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navegación por rol</a:t>
            </a:r>
            <a:endParaRPr lang="en-US" sz="1100" dirty="0"/>
          </a:p>
        </p:txBody>
      </p:sp>
      <p:sp>
        <p:nvSpPr>
          <p:cNvPr id="15" name="arch-arrow-0-1"/>
          <p:cNvSpPr/>
          <p:nvPr/>
        </p:nvSpPr>
        <p:spPr>
          <a:xfrm>
            <a:off x="3959352" y="2628900"/>
            <a:ext cx="310896" cy="0"/>
          </a:xfrm>
          <a:prstGeom prst="line">
            <a:avLst/>
          </a:prstGeom>
          <a:noFill/>
          <a:ln w="19050">
            <a:solidFill>
              <a:schemeClr val="tx1"/>
            </a:solidFill>
            <a:prstDash val="solid"/>
            <a:tailEnd type="triangle"/>
          </a:ln>
        </p:spPr>
      </p:sp>
      <p:sp>
        <p:nvSpPr>
          <p:cNvPr id="16" name="arch-0-2"/>
          <p:cNvSpPr/>
          <p:nvPr/>
        </p:nvSpPr>
        <p:spPr>
          <a:xfrm>
            <a:off x="4297680" y="1828800"/>
            <a:ext cx="1508760" cy="1600200"/>
          </a:xfrm>
          <a:prstGeom prst="roundRect">
            <a:avLst>
              <a:gd name="adj" fmla="val 7273"/>
            </a:avLst>
          </a:prstGeom>
          <a:solidFill>
            <a:schemeClr val="bg2"/>
          </a:solidFill>
          <a:ln/>
        </p:spPr>
      </p:sp>
      <p:sp>
        <p:nvSpPr>
          <p:cNvPr id="17" name="circle-arch-0-2"/>
          <p:cNvSpPr/>
          <p:nvPr/>
        </p:nvSpPr>
        <p:spPr>
          <a:xfrm>
            <a:off x="4800600" y="1965960"/>
            <a:ext cx="502920" cy="502920"/>
          </a:xfrm>
          <a:prstGeom prst="ellipse">
            <a:avLst/>
          </a:prstGeom>
          <a:solidFill>
            <a:schemeClr val="accent1"/>
          </a:solidFill>
          <a:ln/>
        </p:spPr>
      </p:sp>
      <p:pic>
        <p:nvPicPr>
          <p:cNvPr id="18" name="icon-arch-0-2" descr="LuLayers">    </p:cNvPr>
          <p:cNvPicPr>
            <a:picLocks noChangeAspect="1"/>
          </p:cNvPicPr>
          <p:nvPr/>
        </p:nvPicPr>
        <p:blipFill>
          <a:blip r:embed="rId3"/>
          <a:stretch>
            <a:fillRect/>
          </a:stretch>
        </p:blipFill>
        <p:spPr>
          <a:xfrm>
            <a:off x="4921301" y="2086661"/>
            <a:ext cx="261518" cy="261518"/>
          </a:xfrm>
          <a:prstGeom prst="rect">
            <a:avLst/>
          </a:prstGeom>
        </p:spPr>
      </p:pic>
      <p:sp>
        <p:nvSpPr>
          <p:cNvPr id="19" name="Text 14"/>
          <p:cNvSpPr txBox="1"/>
          <p:nvPr/>
        </p:nvSpPr>
        <p:spPr>
          <a:xfrm>
            <a:off x="4343400" y="253288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dataService</a:t>
            </a:r>
            <a:endParaRPr lang="en-US" sz="1400" dirty="0"/>
          </a:p>
        </p:txBody>
      </p:sp>
      <p:sp>
        <p:nvSpPr>
          <p:cNvPr id="20" name="Text 15"/>
          <p:cNvSpPr txBox="1"/>
          <p:nvPr/>
        </p:nvSpPr>
        <p:spPr>
          <a:xfrm>
            <a:off x="4389120" y="285292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capa de datos local</a:t>
            </a:r>
            <a:endParaRPr lang="en-US" sz="1100" dirty="0"/>
          </a:p>
        </p:txBody>
      </p:sp>
      <p:sp>
        <p:nvSpPr>
          <p:cNvPr id="21" name="arch-arrow-0-2"/>
          <p:cNvSpPr/>
          <p:nvPr/>
        </p:nvSpPr>
        <p:spPr>
          <a:xfrm>
            <a:off x="5833872" y="2628900"/>
            <a:ext cx="310896" cy="0"/>
          </a:xfrm>
          <a:prstGeom prst="line">
            <a:avLst/>
          </a:prstGeom>
          <a:noFill/>
          <a:ln w="19050">
            <a:solidFill>
              <a:schemeClr val="tx1"/>
            </a:solidFill>
            <a:prstDash val="solid"/>
            <a:tailEnd type="triangle"/>
          </a:ln>
        </p:spPr>
      </p:sp>
      <p:sp>
        <p:nvSpPr>
          <p:cNvPr id="22" name="arch-0-3"/>
          <p:cNvSpPr/>
          <p:nvPr/>
        </p:nvSpPr>
        <p:spPr>
          <a:xfrm>
            <a:off x="6172200" y="1828800"/>
            <a:ext cx="1508760" cy="1600200"/>
          </a:xfrm>
          <a:prstGeom prst="roundRect">
            <a:avLst>
              <a:gd name="adj" fmla="val 7273"/>
            </a:avLst>
          </a:prstGeom>
          <a:solidFill>
            <a:schemeClr val="bg2"/>
          </a:solidFill>
          <a:ln/>
        </p:spPr>
      </p:sp>
      <p:sp>
        <p:nvSpPr>
          <p:cNvPr id="23" name="circle-arch-0-3"/>
          <p:cNvSpPr/>
          <p:nvPr/>
        </p:nvSpPr>
        <p:spPr>
          <a:xfrm>
            <a:off x="6675120" y="1965960"/>
            <a:ext cx="502920" cy="502920"/>
          </a:xfrm>
          <a:prstGeom prst="ellipse">
            <a:avLst/>
          </a:prstGeom>
          <a:solidFill>
            <a:schemeClr val="accent1"/>
          </a:solidFill>
          <a:ln/>
        </p:spPr>
      </p:sp>
      <p:pic>
        <p:nvPicPr>
          <p:cNvPr id="24" name="icon-arch-0-3" descr="LuHardDrive">    </p:cNvPr>
          <p:cNvPicPr>
            <a:picLocks noChangeAspect="1"/>
          </p:cNvPicPr>
          <p:nvPr/>
        </p:nvPicPr>
        <p:blipFill>
          <a:blip r:embed="rId4"/>
          <a:stretch>
            <a:fillRect/>
          </a:stretch>
        </p:blipFill>
        <p:spPr>
          <a:xfrm>
            <a:off x="6795821" y="2086661"/>
            <a:ext cx="261518" cy="261518"/>
          </a:xfrm>
          <a:prstGeom prst="rect">
            <a:avLst/>
          </a:prstGeom>
        </p:spPr>
      </p:pic>
      <p:sp>
        <p:nvSpPr>
          <p:cNvPr id="25" name="Text 19"/>
          <p:cNvSpPr txBox="1"/>
          <p:nvPr/>
        </p:nvSpPr>
        <p:spPr>
          <a:xfrm>
            <a:off x="6217920" y="253288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localStorage</a:t>
            </a:r>
            <a:endParaRPr lang="en-US" sz="1400" dirty="0"/>
          </a:p>
        </p:txBody>
      </p:sp>
      <p:sp>
        <p:nvSpPr>
          <p:cNvPr id="26" name="Text 20"/>
          <p:cNvSpPr txBox="1"/>
          <p:nvPr/>
        </p:nvSpPr>
        <p:spPr>
          <a:xfrm>
            <a:off x="6263640" y="285292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persistencia en el navegador</a:t>
            </a:r>
            <a:endParaRPr lang="en-US" sz="1100" dirty="0"/>
          </a:p>
        </p:txBody>
      </p:sp>
      <p:sp>
        <p:nvSpPr>
          <p:cNvPr id="27" name="Text 21"/>
          <p:cNvSpPr txBox="1"/>
          <p:nvPr/>
        </p:nvSpPr>
        <p:spPr>
          <a:xfrm>
            <a:off x="548640" y="3749040"/>
            <a:ext cx="3657600" cy="365760"/>
          </a:xfrm>
          <a:prstGeom prst="rect">
            <a:avLst/>
          </a:prstGeom>
          <a:noFill/>
          <a:ln/>
        </p:spPr>
        <p:txBody>
          <a:bodyPr wrap="square" lIns="0" tIns="0" rIns="0" bIns="0" rtlCol="0" anchor="t"/>
          <a:lstStyle/>
          <a:p>
            <a:pPr indent="0" marL="0">
              <a:buNone/>
            </a:pPr>
            <a:r>
              <a:rPr lang="en-US" sz="1600" b="1" dirty="0">
                <a:solidFill>
                  <a:schemeClr val="tx2"/>
                </a:solidFill>
              </a:rPr>
              <a:t>Fase II · siguiente</a:t>
            </a:r>
            <a:endParaRPr lang="en-US" sz="1600" dirty="0"/>
          </a:p>
        </p:txBody>
      </p:sp>
      <p:sp>
        <p:nvSpPr>
          <p:cNvPr id="28" name="arch-1-0"/>
          <p:cNvSpPr/>
          <p:nvPr/>
        </p:nvSpPr>
        <p:spPr>
          <a:xfrm>
            <a:off x="548640" y="4206240"/>
            <a:ext cx="1508760" cy="1600200"/>
          </a:xfrm>
          <a:prstGeom prst="roundRect">
            <a:avLst>
              <a:gd name="adj" fmla="val 7273"/>
            </a:avLst>
          </a:prstGeom>
          <a:solidFill>
            <a:schemeClr val="bg2"/>
          </a:solidFill>
          <a:ln/>
        </p:spPr>
      </p:sp>
      <p:sp>
        <p:nvSpPr>
          <p:cNvPr id="29" name="circle-arch-1-0"/>
          <p:cNvSpPr/>
          <p:nvPr/>
        </p:nvSpPr>
        <p:spPr>
          <a:xfrm>
            <a:off x="1051560" y="4343400"/>
            <a:ext cx="502920" cy="502920"/>
          </a:xfrm>
          <a:prstGeom prst="ellipse">
            <a:avLst/>
          </a:prstGeom>
          <a:solidFill>
            <a:schemeClr val="tx2"/>
          </a:solidFill>
          <a:ln/>
        </p:spPr>
      </p:sp>
      <p:pic>
        <p:nvPicPr>
          <p:cNvPr id="30" name="icon-arch-1-0" descr="LuMonitor">    </p:cNvPr>
          <p:cNvPicPr>
            <a:picLocks noChangeAspect="1"/>
          </p:cNvPicPr>
          <p:nvPr/>
        </p:nvPicPr>
        <p:blipFill>
          <a:blip r:embed="rId5"/>
          <a:stretch>
            <a:fillRect/>
          </a:stretch>
        </p:blipFill>
        <p:spPr>
          <a:xfrm>
            <a:off x="1172261" y="4464101"/>
            <a:ext cx="261518" cy="261518"/>
          </a:xfrm>
          <a:prstGeom prst="rect">
            <a:avLst/>
          </a:prstGeom>
        </p:spPr>
      </p:pic>
      <p:sp>
        <p:nvSpPr>
          <p:cNvPr id="31" name="Text 24"/>
          <p:cNvSpPr txBox="1"/>
          <p:nvPr/>
        </p:nvSpPr>
        <p:spPr>
          <a:xfrm>
            <a:off x="594360" y="491032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React</a:t>
            </a:r>
            <a:endParaRPr lang="en-US" sz="1400" dirty="0"/>
          </a:p>
        </p:txBody>
      </p:sp>
      <p:sp>
        <p:nvSpPr>
          <p:cNvPr id="32" name="Text 25"/>
          <p:cNvSpPr txBox="1"/>
          <p:nvPr/>
        </p:nvSpPr>
        <p:spPr>
          <a:xfrm>
            <a:off x="640080" y="523036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mismas pantallas</a:t>
            </a:r>
            <a:endParaRPr lang="en-US" sz="1100" dirty="0"/>
          </a:p>
        </p:txBody>
      </p:sp>
      <p:sp>
        <p:nvSpPr>
          <p:cNvPr id="33" name="arch-arrow-1-0"/>
          <p:cNvSpPr/>
          <p:nvPr/>
        </p:nvSpPr>
        <p:spPr>
          <a:xfrm>
            <a:off x="2084832" y="5006340"/>
            <a:ext cx="310896" cy="0"/>
          </a:xfrm>
          <a:prstGeom prst="line">
            <a:avLst/>
          </a:prstGeom>
          <a:noFill/>
          <a:ln w="19050">
            <a:solidFill>
              <a:schemeClr val="tx1"/>
            </a:solidFill>
            <a:prstDash val="solid"/>
            <a:tailEnd type="triangle"/>
          </a:ln>
        </p:spPr>
      </p:sp>
      <p:sp>
        <p:nvSpPr>
          <p:cNvPr id="34" name="arch-1-1"/>
          <p:cNvSpPr/>
          <p:nvPr/>
        </p:nvSpPr>
        <p:spPr>
          <a:xfrm>
            <a:off x="2423160" y="4206240"/>
            <a:ext cx="1508760" cy="1600200"/>
          </a:xfrm>
          <a:prstGeom prst="roundRect">
            <a:avLst>
              <a:gd name="adj" fmla="val 7273"/>
            </a:avLst>
          </a:prstGeom>
          <a:solidFill>
            <a:schemeClr val="bg2"/>
          </a:solidFill>
          <a:ln/>
        </p:spPr>
      </p:sp>
      <p:sp>
        <p:nvSpPr>
          <p:cNvPr id="35" name="circle-arch-1-1"/>
          <p:cNvSpPr/>
          <p:nvPr/>
        </p:nvSpPr>
        <p:spPr>
          <a:xfrm>
            <a:off x="2926080" y="4343400"/>
            <a:ext cx="502920" cy="502920"/>
          </a:xfrm>
          <a:prstGeom prst="ellipse">
            <a:avLst/>
          </a:prstGeom>
          <a:solidFill>
            <a:schemeClr val="tx2"/>
          </a:solidFill>
          <a:ln/>
        </p:spPr>
      </p:sp>
      <p:pic>
        <p:nvPicPr>
          <p:cNvPr id="36" name="icon-arch-1-1" descr="LuArrowLeftRight">    </p:cNvPr>
          <p:cNvPicPr>
            <a:picLocks noChangeAspect="1"/>
          </p:cNvPicPr>
          <p:nvPr/>
        </p:nvPicPr>
        <p:blipFill>
          <a:blip r:embed="rId6"/>
          <a:stretch>
            <a:fillRect/>
          </a:stretch>
        </p:blipFill>
        <p:spPr>
          <a:xfrm>
            <a:off x="3046781" y="4464101"/>
            <a:ext cx="261518" cy="261518"/>
          </a:xfrm>
          <a:prstGeom prst="rect">
            <a:avLst/>
          </a:prstGeom>
        </p:spPr>
      </p:pic>
      <p:sp>
        <p:nvSpPr>
          <p:cNvPr id="37" name="Text 29"/>
          <p:cNvSpPr txBox="1"/>
          <p:nvPr/>
        </p:nvSpPr>
        <p:spPr>
          <a:xfrm>
            <a:off x="2468880" y="491032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API REST</a:t>
            </a:r>
            <a:endParaRPr lang="en-US" sz="1400" dirty="0"/>
          </a:p>
        </p:txBody>
      </p:sp>
      <p:sp>
        <p:nvSpPr>
          <p:cNvPr id="38" name="Text 30"/>
          <p:cNvSpPr txBox="1"/>
          <p:nvPr/>
        </p:nvSpPr>
        <p:spPr>
          <a:xfrm>
            <a:off x="2514600" y="523036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JSON sobre HTTP</a:t>
            </a:r>
            <a:endParaRPr lang="en-US" sz="1100" dirty="0"/>
          </a:p>
        </p:txBody>
      </p:sp>
      <p:sp>
        <p:nvSpPr>
          <p:cNvPr id="39" name="arch-arrow-1-1"/>
          <p:cNvSpPr/>
          <p:nvPr/>
        </p:nvSpPr>
        <p:spPr>
          <a:xfrm>
            <a:off x="3959352" y="5006340"/>
            <a:ext cx="310896" cy="0"/>
          </a:xfrm>
          <a:prstGeom prst="line">
            <a:avLst/>
          </a:prstGeom>
          <a:noFill/>
          <a:ln w="19050">
            <a:solidFill>
              <a:schemeClr val="tx1"/>
            </a:solidFill>
            <a:prstDash val="solid"/>
            <a:tailEnd type="triangle"/>
          </a:ln>
        </p:spPr>
      </p:sp>
      <p:sp>
        <p:nvSpPr>
          <p:cNvPr id="40" name="arch-1-2"/>
          <p:cNvSpPr/>
          <p:nvPr/>
        </p:nvSpPr>
        <p:spPr>
          <a:xfrm>
            <a:off x="4297680" y="4206240"/>
            <a:ext cx="1508760" cy="1600200"/>
          </a:xfrm>
          <a:prstGeom prst="roundRect">
            <a:avLst>
              <a:gd name="adj" fmla="val 7273"/>
            </a:avLst>
          </a:prstGeom>
          <a:solidFill>
            <a:schemeClr val="bg2"/>
          </a:solidFill>
          <a:ln/>
        </p:spPr>
      </p:sp>
      <p:sp>
        <p:nvSpPr>
          <p:cNvPr id="41" name="circle-arch-1-2"/>
          <p:cNvSpPr/>
          <p:nvPr/>
        </p:nvSpPr>
        <p:spPr>
          <a:xfrm>
            <a:off x="4800600" y="4343400"/>
            <a:ext cx="502920" cy="502920"/>
          </a:xfrm>
          <a:prstGeom prst="ellipse">
            <a:avLst/>
          </a:prstGeom>
          <a:solidFill>
            <a:schemeClr val="tx2"/>
          </a:solidFill>
          <a:ln/>
        </p:spPr>
      </p:sp>
      <p:pic>
        <p:nvPicPr>
          <p:cNvPr id="42" name="icon-arch-1-2" descr="LuServer">    </p:cNvPr>
          <p:cNvPicPr>
            <a:picLocks noChangeAspect="1"/>
          </p:cNvPicPr>
          <p:nvPr/>
        </p:nvPicPr>
        <p:blipFill>
          <a:blip r:embed="rId7"/>
          <a:stretch>
            <a:fillRect/>
          </a:stretch>
        </p:blipFill>
        <p:spPr>
          <a:xfrm>
            <a:off x="4921301" y="4464101"/>
            <a:ext cx="261518" cy="261518"/>
          </a:xfrm>
          <a:prstGeom prst="rect">
            <a:avLst/>
          </a:prstGeom>
        </p:spPr>
      </p:pic>
      <p:sp>
        <p:nvSpPr>
          <p:cNvPr id="43" name="Text 34"/>
          <p:cNvSpPr txBox="1"/>
          <p:nvPr/>
        </p:nvSpPr>
        <p:spPr>
          <a:xfrm>
            <a:off x="4343400" y="491032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Spring Boot</a:t>
            </a:r>
            <a:endParaRPr lang="en-US" sz="1400" dirty="0"/>
          </a:p>
        </p:txBody>
      </p:sp>
      <p:sp>
        <p:nvSpPr>
          <p:cNvPr id="44" name="Text 35"/>
          <p:cNvSpPr txBox="1"/>
          <p:nvPr/>
        </p:nvSpPr>
        <p:spPr>
          <a:xfrm>
            <a:off x="4389120" y="523036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controladores y servicios</a:t>
            </a:r>
            <a:endParaRPr lang="en-US" sz="1100" dirty="0"/>
          </a:p>
        </p:txBody>
      </p:sp>
      <p:sp>
        <p:nvSpPr>
          <p:cNvPr id="45" name="arch-arrow-1-2"/>
          <p:cNvSpPr/>
          <p:nvPr/>
        </p:nvSpPr>
        <p:spPr>
          <a:xfrm>
            <a:off x="5833872" y="5006340"/>
            <a:ext cx="310896" cy="0"/>
          </a:xfrm>
          <a:prstGeom prst="line">
            <a:avLst/>
          </a:prstGeom>
          <a:noFill/>
          <a:ln w="19050">
            <a:solidFill>
              <a:schemeClr val="tx1"/>
            </a:solidFill>
            <a:prstDash val="solid"/>
            <a:tailEnd type="triangle"/>
          </a:ln>
        </p:spPr>
      </p:sp>
      <p:sp>
        <p:nvSpPr>
          <p:cNvPr id="46" name="arch-1-3"/>
          <p:cNvSpPr/>
          <p:nvPr/>
        </p:nvSpPr>
        <p:spPr>
          <a:xfrm>
            <a:off x="6172200" y="4206240"/>
            <a:ext cx="1508760" cy="1600200"/>
          </a:xfrm>
          <a:prstGeom prst="roundRect">
            <a:avLst>
              <a:gd name="adj" fmla="val 7273"/>
            </a:avLst>
          </a:prstGeom>
          <a:solidFill>
            <a:schemeClr val="bg2"/>
          </a:solidFill>
          <a:ln/>
        </p:spPr>
      </p:sp>
      <p:sp>
        <p:nvSpPr>
          <p:cNvPr id="47" name="circle-arch-1-3"/>
          <p:cNvSpPr/>
          <p:nvPr/>
        </p:nvSpPr>
        <p:spPr>
          <a:xfrm>
            <a:off x="6675120" y="4343400"/>
            <a:ext cx="502920" cy="502920"/>
          </a:xfrm>
          <a:prstGeom prst="ellipse">
            <a:avLst/>
          </a:prstGeom>
          <a:solidFill>
            <a:schemeClr val="tx2"/>
          </a:solidFill>
          <a:ln/>
        </p:spPr>
      </p:sp>
      <p:pic>
        <p:nvPicPr>
          <p:cNvPr id="48" name="icon-arch-1-3" descr="LuDatabase">    </p:cNvPr>
          <p:cNvPicPr>
            <a:picLocks noChangeAspect="1"/>
          </p:cNvPicPr>
          <p:nvPr/>
        </p:nvPicPr>
        <p:blipFill>
          <a:blip r:embed="rId8"/>
          <a:stretch>
            <a:fillRect/>
          </a:stretch>
        </p:blipFill>
        <p:spPr>
          <a:xfrm>
            <a:off x="6795821" y="4464101"/>
            <a:ext cx="261518" cy="261518"/>
          </a:xfrm>
          <a:prstGeom prst="rect">
            <a:avLst/>
          </a:prstGeom>
        </p:spPr>
      </p:pic>
      <p:sp>
        <p:nvSpPr>
          <p:cNvPr id="49" name="Text 39"/>
          <p:cNvSpPr txBox="1"/>
          <p:nvPr/>
        </p:nvSpPr>
        <p:spPr>
          <a:xfrm>
            <a:off x="6217920" y="4910328"/>
            <a:ext cx="1417320" cy="320040"/>
          </a:xfrm>
          <a:prstGeom prst="rect">
            <a:avLst/>
          </a:prstGeom>
          <a:noFill/>
          <a:ln/>
        </p:spPr>
        <p:txBody>
          <a:bodyPr wrap="square" lIns="0" tIns="0" rIns="0" bIns="0" rtlCol="0" anchor="t"/>
          <a:lstStyle/>
          <a:p>
            <a:pPr algn="ctr" indent="0" marL="0">
              <a:buNone/>
            </a:pPr>
            <a:r>
              <a:rPr lang="en-US" sz="1400" b="1" dirty="0">
                <a:solidFill>
                  <a:schemeClr val="tx2"/>
                </a:solidFill>
              </a:rPr>
              <a:t>MySQL</a:t>
            </a:r>
            <a:endParaRPr lang="en-US" sz="1400" dirty="0"/>
          </a:p>
        </p:txBody>
      </p:sp>
      <p:sp>
        <p:nvSpPr>
          <p:cNvPr id="50" name="Text 40"/>
          <p:cNvSpPr txBox="1"/>
          <p:nvPr/>
        </p:nvSpPr>
        <p:spPr>
          <a:xfrm>
            <a:off x="6263640" y="5230368"/>
            <a:ext cx="1325880" cy="502920"/>
          </a:xfrm>
          <a:prstGeom prst="rect">
            <a:avLst/>
          </a:prstGeom>
          <a:noFill/>
          <a:ln/>
        </p:spPr>
        <p:txBody>
          <a:bodyPr wrap="square" lIns="0" tIns="0" rIns="0" bIns="0" rtlCol="0" anchor="t"/>
          <a:lstStyle/>
          <a:p>
            <a:pPr algn="ctr" indent="0" marL="0">
              <a:buNone/>
            </a:pPr>
            <a:r>
              <a:rPr lang="en-US" sz="1100" dirty="0">
                <a:solidFill>
                  <a:schemeClr val="accent6"/>
                </a:solidFill>
              </a:rPr>
              <a:t>base de datos</a:t>
            </a:r>
            <a:endParaRPr lang="en-US" sz="1100" dirty="0"/>
          </a:p>
        </p:txBody>
      </p:sp>
      <p:sp>
        <p:nvSpPr>
          <p:cNvPr id="51" name="endpoints"/>
          <p:cNvSpPr/>
          <p:nvPr/>
        </p:nvSpPr>
        <p:spPr>
          <a:xfrm>
            <a:off x="8092440" y="1371600"/>
            <a:ext cx="3520440" cy="4754880"/>
          </a:xfrm>
          <a:prstGeom prst="roundRect">
            <a:avLst>
              <a:gd name="adj" fmla="val 3117"/>
            </a:avLst>
          </a:prstGeom>
          <a:solidFill>
            <a:schemeClr val="tx2"/>
          </a:solidFill>
          <a:ln/>
        </p:spPr>
      </p:sp>
      <p:sp>
        <p:nvSpPr>
          <p:cNvPr id="52" name="Text 42"/>
          <p:cNvSpPr txBox="1"/>
          <p:nvPr/>
        </p:nvSpPr>
        <p:spPr>
          <a:xfrm>
            <a:off x="8275320" y="1554480"/>
            <a:ext cx="3154680" cy="365760"/>
          </a:xfrm>
          <a:prstGeom prst="rect">
            <a:avLst/>
          </a:prstGeom>
          <a:noFill/>
          <a:ln/>
        </p:spPr>
        <p:txBody>
          <a:bodyPr wrap="square" lIns="0" tIns="0" rIns="0" bIns="0" rtlCol="0" anchor="t"/>
          <a:lstStyle/>
          <a:p>
            <a:pPr indent="0" marL="0">
              <a:buNone/>
            </a:pPr>
            <a:r>
              <a:rPr lang="en-US" sz="1600" b="1" dirty="0">
                <a:solidFill>
                  <a:schemeClr val="accent1"/>
                </a:solidFill>
              </a:rPr>
              <a:t>Endpoints previstos</a:t>
            </a:r>
            <a:endParaRPr lang="en-US" sz="1600" dirty="0"/>
          </a:p>
        </p:txBody>
      </p:sp>
      <p:sp>
        <p:nvSpPr>
          <p:cNvPr id="53" name="Text 43"/>
          <p:cNvSpPr txBox="1"/>
          <p:nvPr/>
        </p:nvSpPr>
        <p:spPr>
          <a:xfrm>
            <a:off x="8275320" y="2057400"/>
            <a:ext cx="3246120" cy="3931920"/>
          </a:xfrm>
          <a:prstGeom prst="rect">
            <a:avLst/>
          </a:prstGeom>
          <a:noFill/>
          <a:ln/>
        </p:spPr>
        <p:txBody>
          <a:bodyPr wrap="square" lIns="0" tIns="0" rIns="0" bIns="0" rtlCol="0" anchor="t"/>
          <a:lstStyle/>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POST  /api/auth/login</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GET   /api/tramites</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POST  /api/solicitudes</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GET   /api/solicitudes?estado=&amp;tipo=</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GET   /api/solicitudes/{id}</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PATCH /api/solicitudes/{id}/estado</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POST  /api/solicitudes/{id}/correccion</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POST  /api/solicitudes/{id}/mensajes</a:t>
            </a:r>
            <a:endParaRPr lang="en-US" sz="1050" dirty="0"/>
          </a:p>
          <a:p>
            <a:pPr indent="0" marL="0">
              <a:spcAft>
                <a:spcPts val="800"/>
              </a:spcAft>
              <a:buNone/>
            </a:pPr>
            <a:r>
              <a:rPr lang="en-US" sz="1050" dirty="0">
                <a:solidFill>
                  <a:schemeClr val="bg1"/>
                </a:solidFill>
                <a:latin typeface="Courier New" pitchFamily="34" charset="0"/>
                <a:ea typeface="Courier New" pitchFamily="34" charset="-122"/>
                <a:cs typeface="Courier New" pitchFamily="34" charset="-120"/>
              </a:rPr>
              <a:t>GET   /api/notificaciones</a:t>
            </a:r>
            <a:endParaRPr lang="en-US" sz="105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Cómo lo construimos</a:t>
            </a:r>
            <a:endParaRPr lang="en-US" sz="3400" dirty="0"/>
          </a:p>
        </p:txBody>
      </p:sp>
      <p:sp>
        <p:nvSpPr>
          <p:cNvPr id="3" name="Text 1"/>
          <p:cNvSpPr txBox="1"/>
          <p:nvPr/>
        </p:nvSpPr>
        <p:spPr>
          <a:xfrm>
            <a:off x="548640" y="1188720"/>
            <a:ext cx="2651760" cy="822960"/>
          </a:xfrm>
          <a:prstGeom prst="rect">
            <a:avLst/>
          </a:prstGeom>
          <a:noFill/>
          <a:ln/>
        </p:spPr>
        <p:txBody>
          <a:bodyPr wrap="square" lIns="0" tIns="0" rIns="0" bIns="0" rtlCol="0" anchor="t"/>
          <a:lstStyle/>
          <a:p>
            <a:pPr indent="0" marL="0">
              <a:buNone/>
            </a:pPr>
            <a:r>
              <a:rPr lang="en-US" sz="5400" b="1" dirty="0">
                <a:solidFill>
                  <a:schemeClr val="accent1"/>
                </a:solidFill>
              </a:rPr>
              <a:t>3</a:t>
            </a:r>
            <a:endParaRPr lang="en-US" sz="5400" dirty="0"/>
          </a:p>
        </p:txBody>
      </p:sp>
      <p:sp>
        <p:nvSpPr>
          <p:cNvPr id="4" name="Text 2"/>
          <p:cNvSpPr txBox="1"/>
          <p:nvPr/>
        </p:nvSpPr>
        <p:spPr>
          <a:xfrm>
            <a:off x="548640" y="2011680"/>
            <a:ext cx="2651760" cy="320040"/>
          </a:xfrm>
          <a:prstGeom prst="rect">
            <a:avLst/>
          </a:prstGeom>
          <a:noFill/>
          <a:ln/>
        </p:spPr>
        <p:txBody>
          <a:bodyPr wrap="square" lIns="0" tIns="0" rIns="0" bIns="0" rtlCol="0" anchor="t"/>
          <a:lstStyle/>
          <a:p>
            <a:pPr indent="0" marL="0">
              <a:buNone/>
            </a:pPr>
            <a:r>
              <a:rPr lang="en-US" sz="1400" dirty="0">
                <a:solidFill>
                  <a:schemeClr val="accent6"/>
                </a:solidFill>
              </a:rPr>
              <a:t>roles</a:t>
            </a:r>
            <a:endParaRPr lang="en-US" sz="1400" dirty="0"/>
          </a:p>
        </p:txBody>
      </p:sp>
      <p:sp>
        <p:nvSpPr>
          <p:cNvPr id="5" name="Text 3"/>
          <p:cNvSpPr txBox="1"/>
          <p:nvPr/>
        </p:nvSpPr>
        <p:spPr>
          <a:xfrm>
            <a:off x="3337560" y="1188720"/>
            <a:ext cx="2651760" cy="822960"/>
          </a:xfrm>
          <a:prstGeom prst="rect">
            <a:avLst/>
          </a:prstGeom>
          <a:noFill/>
          <a:ln/>
        </p:spPr>
        <p:txBody>
          <a:bodyPr wrap="square" lIns="0" tIns="0" rIns="0" bIns="0" rtlCol="0" anchor="t"/>
          <a:lstStyle/>
          <a:p>
            <a:pPr indent="0" marL="0">
              <a:buNone/>
            </a:pPr>
            <a:r>
              <a:rPr lang="en-US" sz="5400" b="1" dirty="0">
                <a:solidFill>
                  <a:schemeClr val="accent1"/>
                </a:solidFill>
              </a:rPr>
              <a:t>7</a:t>
            </a:r>
            <a:endParaRPr lang="en-US" sz="5400" dirty="0"/>
          </a:p>
        </p:txBody>
      </p:sp>
      <p:sp>
        <p:nvSpPr>
          <p:cNvPr id="6" name="Text 4"/>
          <p:cNvSpPr txBox="1"/>
          <p:nvPr/>
        </p:nvSpPr>
        <p:spPr>
          <a:xfrm>
            <a:off x="3337560" y="2011680"/>
            <a:ext cx="2651760" cy="320040"/>
          </a:xfrm>
          <a:prstGeom prst="rect">
            <a:avLst/>
          </a:prstGeom>
          <a:noFill/>
          <a:ln/>
        </p:spPr>
        <p:txBody>
          <a:bodyPr wrap="square" lIns="0" tIns="0" rIns="0" bIns="0" rtlCol="0" anchor="t"/>
          <a:lstStyle/>
          <a:p>
            <a:pPr indent="0" marL="0">
              <a:buNone/>
            </a:pPr>
            <a:r>
              <a:rPr lang="en-US" sz="1400" dirty="0">
                <a:solidFill>
                  <a:schemeClr val="accent6"/>
                </a:solidFill>
              </a:rPr>
              <a:t>estados</a:t>
            </a:r>
            <a:endParaRPr lang="en-US" sz="1400" dirty="0"/>
          </a:p>
        </p:txBody>
      </p:sp>
      <p:sp>
        <p:nvSpPr>
          <p:cNvPr id="7" name="Text 5"/>
          <p:cNvSpPr txBox="1"/>
          <p:nvPr/>
        </p:nvSpPr>
        <p:spPr>
          <a:xfrm>
            <a:off x="6126480" y="1188720"/>
            <a:ext cx="2651760" cy="822960"/>
          </a:xfrm>
          <a:prstGeom prst="rect">
            <a:avLst/>
          </a:prstGeom>
          <a:noFill/>
          <a:ln/>
        </p:spPr>
        <p:txBody>
          <a:bodyPr wrap="square" lIns="0" tIns="0" rIns="0" bIns="0" rtlCol="0" anchor="t"/>
          <a:lstStyle/>
          <a:p>
            <a:pPr indent="0" marL="0">
              <a:buNone/>
            </a:pPr>
            <a:r>
              <a:rPr lang="en-US" sz="5400" b="1" dirty="0">
                <a:solidFill>
                  <a:schemeClr val="accent1"/>
                </a:solidFill>
              </a:rPr>
              <a:t>6</a:t>
            </a:r>
            <a:endParaRPr lang="en-US" sz="5400" dirty="0"/>
          </a:p>
        </p:txBody>
      </p:sp>
      <p:sp>
        <p:nvSpPr>
          <p:cNvPr id="8" name="Text 6"/>
          <p:cNvSpPr txBox="1"/>
          <p:nvPr/>
        </p:nvSpPr>
        <p:spPr>
          <a:xfrm>
            <a:off x="6126480" y="2011680"/>
            <a:ext cx="2651760" cy="320040"/>
          </a:xfrm>
          <a:prstGeom prst="rect">
            <a:avLst/>
          </a:prstGeom>
          <a:noFill/>
          <a:ln/>
        </p:spPr>
        <p:txBody>
          <a:bodyPr wrap="square" lIns="0" tIns="0" rIns="0" bIns="0" rtlCol="0" anchor="t"/>
          <a:lstStyle/>
          <a:p>
            <a:pPr indent="0" marL="0">
              <a:buNone/>
            </a:pPr>
            <a:r>
              <a:rPr lang="en-US" sz="1400" dirty="0">
                <a:solidFill>
                  <a:schemeClr val="accent6"/>
                </a:solidFill>
              </a:rPr>
              <a:t>tipos de trámite</a:t>
            </a:r>
            <a:endParaRPr lang="en-US" sz="1400" dirty="0"/>
          </a:p>
        </p:txBody>
      </p:sp>
      <p:sp>
        <p:nvSpPr>
          <p:cNvPr id="9" name="Text 7"/>
          <p:cNvSpPr txBox="1"/>
          <p:nvPr/>
        </p:nvSpPr>
        <p:spPr>
          <a:xfrm>
            <a:off x="8915400" y="1188720"/>
            <a:ext cx="2651760" cy="822960"/>
          </a:xfrm>
          <a:prstGeom prst="rect">
            <a:avLst/>
          </a:prstGeom>
          <a:noFill/>
          <a:ln/>
        </p:spPr>
        <p:txBody>
          <a:bodyPr wrap="square" lIns="0" tIns="0" rIns="0" bIns="0" rtlCol="0" anchor="t"/>
          <a:lstStyle/>
          <a:p>
            <a:pPr indent="0" marL="0">
              <a:buNone/>
            </a:pPr>
            <a:r>
              <a:rPr lang="en-US" sz="5400" b="1" dirty="0">
                <a:solidFill>
                  <a:schemeClr val="accent1"/>
                </a:solidFill>
              </a:rPr>
              <a:t>8</a:t>
            </a:r>
            <a:endParaRPr lang="en-US" sz="5400" dirty="0"/>
          </a:p>
        </p:txBody>
      </p:sp>
      <p:sp>
        <p:nvSpPr>
          <p:cNvPr id="10" name="Text 8"/>
          <p:cNvSpPr txBox="1"/>
          <p:nvPr/>
        </p:nvSpPr>
        <p:spPr>
          <a:xfrm>
            <a:off x="8915400" y="2011680"/>
            <a:ext cx="2651760" cy="320040"/>
          </a:xfrm>
          <a:prstGeom prst="rect">
            <a:avLst/>
          </a:prstGeom>
          <a:noFill/>
          <a:ln/>
        </p:spPr>
        <p:txBody>
          <a:bodyPr wrap="square" lIns="0" tIns="0" rIns="0" bIns="0" rtlCol="0" anchor="t"/>
          <a:lstStyle/>
          <a:p>
            <a:pPr indent="0" marL="0">
              <a:buNone/>
            </a:pPr>
            <a:r>
              <a:rPr lang="en-US" sz="1400" dirty="0">
                <a:solidFill>
                  <a:schemeClr val="accent6"/>
                </a:solidFill>
              </a:rPr>
              <a:t>pruebas automatizadas</a:t>
            </a:r>
            <a:endParaRPr lang="en-US" sz="1400" dirty="0"/>
          </a:p>
        </p:txBody>
      </p:sp>
      <p:sp>
        <p:nvSpPr>
          <p:cNvPr id="11" name="tech-0"/>
          <p:cNvSpPr/>
          <p:nvPr/>
        </p:nvSpPr>
        <p:spPr>
          <a:xfrm>
            <a:off x="548640" y="2606040"/>
            <a:ext cx="3063240" cy="731520"/>
          </a:xfrm>
          <a:prstGeom prst="roundRect">
            <a:avLst>
              <a:gd name="adj" fmla="val 15000"/>
            </a:avLst>
          </a:prstGeom>
          <a:solidFill>
            <a:schemeClr val="bg2"/>
          </a:solidFill>
          <a:ln/>
        </p:spPr>
      </p:sp>
      <p:sp>
        <p:nvSpPr>
          <p:cNvPr id="12" name="Text 10"/>
          <p:cNvSpPr txBox="1"/>
          <p:nvPr/>
        </p:nvSpPr>
        <p:spPr>
          <a:xfrm>
            <a:off x="731520" y="2679192"/>
            <a:ext cx="2743200" cy="320040"/>
          </a:xfrm>
          <a:prstGeom prst="rect">
            <a:avLst/>
          </a:prstGeom>
          <a:noFill/>
          <a:ln/>
        </p:spPr>
        <p:txBody>
          <a:bodyPr wrap="square" lIns="0" tIns="0" rIns="0" bIns="0" rtlCol="0" anchor="t"/>
          <a:lstStyle/>
          <a:p>
            <a:pPr indent="0" marL="0">
              <a:buNone/>
            </a:pPr>
            <a:r>
              <a:rPr lang="en-US" sz="1500" b="1" dirty="0">
                <a:solidFill>
                  <a:schemeClr val="tx2"/>
                </a:solidFill>
              </a:rPr>
              <a:t>React 19 + TypeScript</a:t>
            </a:r>
            <a:endParaRPr lang="en-US" sz="1500" dirty="0"/>
          </a:p>
        </p:txBody>
      </p:sp>
      <p:sp>
        <p:nvSpPr>
          <p:cNvPr id="13" name="Text 11"/>
          <p:cNvSpPr txBox="1"/>
          <p:nvPr/>
        </p:nvSpPr>
        <p:spPr>
          <a:xfrm>
            <a:off x="731520" y="299923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interfaz tipada</a:t>
            </a:r>
            <a:endParaRPr lang="en-US" sz="1200" dirty="0"/>
          </a:p>
        </p:txBody>
      </p:sp>
      <p:sp>
        <p:nvSpPr>
          <p:cNvPr id="14" name="tech-1"/>
          <p:cNvSpPr/>
          <p:nvPr/>
        </p:nvSpPr>
        <p:spPr>
          <a:xfrm>
            <a:off x="3794760" y="2606040"/>
            <a:ext cx="3063240" cy="731520"/>
          </a:xfrm>
          <a:prstGeom prst="roundRect">
            <a:avLst>
              <a:gd name="adj" fmla="val 15000"/>
            </a:avLst>
          </a:prstGeom>
          <a:solidFill>
            <a:schemeClr val="bg2"/>
          </a:solidFill>
          <a:ln/>
        </p:spPr>
      </p:sp>
      <p:sp>
        <p:nvSpPr>
          <p:cNvPr id="15" name="Text 13"/>
          <p:cNvSpPr txBox="1"/>
          <p:nvPr/>
        </p:nvSpPr>
        <p:spPr>
          <a:xfrm>
            <a:off x="3977640" y="2679192"/>
            <a:ext cx="2743200" cy="320040"/>
          </a:xfrm>
          <a:prstGeom prst="rect">
            <a:avLst/>
          </a:prstGeom>
          <a:noFill/>
          <a:ln/>
        </p:spPr>
        <p:txBody>
          <a:bodyPr wrap="square" lIns="0" tIns="0" rIns="0" bIns="0" rtlCol="0" anchor="t"/>
          <a:lstStyle/>
          <a:p>
            <a:pPr indent="0" marL="0">
              <a:buNone/>
            </a:pPr>
            <a:r>
              <a:rPr lang="en-US" sz="1500" b="1" dirty="0">
                <a:solidFill>
                  <a:schemeClr val="tx2"/>
                </a:solidFill>
              </a:rPr>
              <a:t>TanStack Router</a:t>
            </a:r>
            <a:endParaRPr lang="en-US" sz="1500" dirty="0"/>
          </a:p>
        </p:txBody>
      </p:sp>
      <p:sp>
        <p:nvSpPr>
          <p:cNvPr id="16" name="Text 14"/>
          <p:cNvSpPr txBox="1"/>
          <p:nvPr/>
        </p:nvSpPr>
        <p:spPr>
          <a:xfrm>
            <a:off x="3977640" y="299923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rutas y navegación</a:t>
            </a:r>
            <a:endParaRPr lang="en-US" sz="1200" dirty="0"/>
          </a:p>
        </p:txBody>
      </p:sp>
      <p:sp>
        <p:nvSpPr>
          <p:cNvPr id="17" name="tech-2"/>
          <p:cNvSpPr/>
          <p:nvPr/>
        </p:nvSpPr>
        <p:spPr>
          <a:xfrm>
            <a:off x="548640" y="3474720"/>
            <a:ext cx="3063240" cy="731520"/>
          </a:xfrm>
          <a:prstGeom prst="roundRect">
            <a:avLst>
              <a:gd name="adj" fmla="val 15000"/>
            </a:avLst>
          </a:prstGeom>
          <a:solidFill>
            <a:schemeClr val="bg2"/>
          </a:solidFill>
          <a:ln/>
        </p:spPr>
      </p:sp>
      <p:sp>
        <p:nvSpPr>
          <p:cNvPr id="18" name="Text 16"/>
          <p:cNvSpPr txBox="1"/>
          <p:nvPr/>
        </p:nvSpPr>
        <p:spPr>
          <a:xfrm>
            <a:off x="731520" y="3547872"/>
            <a:ext cx="2743200" cy="320040"/>
          </a:xfrm>
          <a:prstGeom prst="rect">
            <a:avLst/>
          </a:prstGeom>
          <a:noFill/>
          <a:ln/>
        </p:spPr>
        <p:txBody>
          <a:bodyPr wrap="square" lIns="0" tIns="0" rIns="0" bIns="0" rtlCol="0" anchor="t"/>
          <a:lstStyle/>
          <a:p>
            <a:pPr indent="0" marL="0">
              <a:buNone/>
            </a:pPr>
            <a:r>
              <a:rPr lang="en-US" sz="1500" b="1" dirty="0">
                <a:solidFill>
                  <a:schemeClr val="tx2"/>
                </a:solidFill>
              </a:rPr>
              <a:t>Tailwind CSS</a:t>
            </a:r>
            <a:endParaRPr lang="en-US" sz="1500" dirty="0"/>
          </a:p>
        </p:txBody>
      </p:sp>
      <p:sp>
        <p:nvSpPr>
          <p:cNvPr id="19" name="Text 17"/>
          <p:cNvSpPr txBox="1"/>
          <p:nvPr/>
        </p:nvSpPr>
        <p:spPr>
          <a:xfrm>
            <a:off x="731520" y="386791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diseño responsive</a:t>
            </a:r>
            <a:endParaRPr lang="en-US" sz="1200" dirty="0"/>
          </a:p>
        </p:txBody>
      </p:sp>
      <p:sp>
        <p:nvSpPr>
          <p:cNvPr id="20" name="tech-3"/>
          <p:cNvSpPr/>
          <p:nvPr/>
        </p:nvSpPr>
        <p:spPr>
          <a:xfrm>
            <a:off x="3794760" y="3474720"/>
            <a:ext cx="3063240" cy="731520"/>
          </a:xfrm>
          <a:prstGeom prst="roundRect">
            <a:avLst>
              <a:gd name="adj" fmla="val 15000"/>
            </a:avLst>
          </a:prstGeom>
          <a:solidFill>
            <a:schemeClr val="bg2"/>
          </a:solidFill>
          <a:ln/>
        </p:spPr>
      </p:sp>
      <p:sp>
        <p:nvSpPr>
          <p:cNvPr id="21" name="Text 19"/>
          <p:cNvSpPr txBox="1"/>
          <p:nvPr/>
        </p:nvSpPr>
        <p:spPr>
          <a:xfrm>
            <a:off x="3977640" y="3547872"/>
            <a:ext cx="2743200" cy="320040"/>
          </a:xfrm>
          <a:prstGeom prst="rect">
            <a:avLst/>
          </a:prstGeom>
          <a:noFill/>
          <a:ln/>
        </p:spPr>
        <p:txBody>
          <a:bodyPr wrap="square" lIns="0" tIns="0" rIns="0" bIns="0" rtlCol="0" anchor="t"/>
          <a:lstStyle/>
          <a:p>
            <a:pPr indent="0" marL="0">
              <a:buNone/>
            </a:pPr>
            <a:r>
              <a:rPr lang="en-US" sz="1500" b="1" dirty="0">
                <a:solidFill>
                  <a:schemeClr val="tx2"/>
                </a:solidFill>
              </a:rPr>
              <a:t>Radix / shadcn/ui</a:t>
            </a:r>
            <a:endParaRPr lang="en-US" sz="1500" dirty="0"/>
          </a:p>
        </p:txBody>
      </p:sp>
      <p:sp>
        <p:nvSpPr>
          <p:cNvPr id="22" name="Text 20"/>
          <p:cNvSpPr txBox="1"/>
          <p:nvPr/>
        </p:nvSpPr>
        <p:spPr>
          <a:xfrm>
            <a:off x="3977640" y="386791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componentes accesibles</a:t>
            </a:r>
            <a:endParaRPr lang="en-US" sz="1200" dirty="0"/>
          </a:p>
        </p:txBody>
      </p:sp>
      <p:sp>
        <p:nvSpPr>
          <p:cNvPr id="23" name="tech-4"/>
          <p:cNvSpPr/>
          <p:nvPr/>
        </p:nvSpPr>
        <p:spPr>
          <a:xfrm>
            <a:off x="548640" y="4343400"/>
            <a:ext cx="3063240" cy="731520"/>
          </a:xfrm>
          <a:prstGeom prst="roundRect">
            <a:avLst>
              <a:gd name="adj" fmla="val 15000"/>
            </a:avLst>
          </a:prstGeom>
          <a:solidFill>
            <a:schemeClr val="bg2"/>
          </a:solidFill>
          <a:ln/>
        </p:spPr>
      </p:sp>
      <p:sp>
        <p:nvSpPr>
          <p:cNvPr id="24" name="Text 22"/>
          <p:cNvSpPr txBox="1"/>
          <p:nvPr/>
        </p:nvSpPr>
        <p:spPr>
          <a:xfrm>
            <a:off x="731520" y="4416552"/>
            <a:ext cx="2743200" cy="320040"/>
          </a:xfrm>
          <a:prstGeom prst="rect">
            <a:avLst/>
          </a:prstGeom>
          <a:noFill/>
          <a:ln/>
        </p:spPr>
        <p:txBody>
          <a:bodyPr wrap="square" lIns="0" tIns="0" rIns="0" bIns="0" rtlCol="0" anchor="t"/>
          <a:lstStyle/>
          <a:p>
            <a:pPr indent="0" marL="0">
              <a:buNone/>
            </a:pPr>
            <a:r>
              <a:rPr lang="en-US" sz="1500" b="1" dirty="0">
                <a:solidFill>
                  <a:schemeClr val="tx2"/>
                </a:solidFill>
              </a:rPr>
              <a:t>Zod</a:t>
            </a:r>
            <a:endParaRPr lang="en-US" sz="1500" dirty="0"/>
          </a:p>
        </p:txBody>
      </p:sp>
      <p:sp>
        <p:nvSpPr>
          <p:cNvPr id="25" name="Text 23"/>
          <p:cNvSpPr txBox="1"/>
          <p:nvPr/>
        </p:nvSpPr>
        <p:spPr>
          <a:xfrm>
            <a:off x="731520" y="473659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validación de formularios</a:t>
            </a:r>
            <a:endParaRPr lang="en-US" sz="1200" dirty="0"/>
          </a:p>
        </p:txBody>
      </p:sp>
      <p:sp>
        <p:nvSpPr>
          <p:cNvPr id="26" name="tech-5"/>
          <p:cNvSpPr/>
          <p:nvPr/>
        </p:nvSpPr>
        <p:spPr>
          <a:xfrm>
            <a:off x="3794760" y="4343400"/>
            <a:ext cx="3063240" cy="731520"/>
          </a:xfrm>
          <a:prstGeom prst="roundRect">
            <a:avLst>
              <a:gd name="adj" fmla="val 15000"/>
            </a:avLst>
          </a:prstGeom>
          <a:solidFill>
            <a:schemeClr val="bg2"/>
          </a:solidFill>
          <a:ln/>
        </p:spPr>
      </p:sp>
      <p:sp>
        <p:nvSpPr>
          <p:cNvPr id="27" name="Text 25"/>
          <p:cNvSpPr txBox="1"/>
          <p:nvPr/>
        </p:nvSpPr>
        <p:spPr>
          <a:xfrm>
            <a:off x="3977640" y="4416552"/>
            <a:ext cx="2743200" cy="320040"/>
          </a:xfrm>
          <a:prstGeom prst="rect">
            <a:avLst/>
          </a:prstGeom>
          <a:noFill/>
          <a:ln/>
        </p:spPr>
        <p:txBody>
          <a:bodyPr wrap="square" lIns="0" tIns="0" rIns="0" bIns="0" rtlCol="0" anchor="t"/>
          <a:lstStyle/>
          <a:p>
            <a:pPr indent="0" marL="0">
              <a:buNone/>
            </a:pPr>
            <a:r>
              <a:rPr lang="en-US" sz="1500" b="1" dirty="0">
                <a:solidFill>
                  <a:schemeClr val="tx2"/>
                </a:solidFill>
              </a:rPr>
              <a:t>Vitest</a:t>
            </a:r>
            <a:endParaRPr lang="en-US" sz="1500" dirty="0"/>
          </a:p>
        </p:txBody>
      </p:sp>
      <p:sp>
        <p:nvSpPr>
          <p:cNvPr id="28" name="Text 26"/>
          <p:cNvSpPr txBox="1"/>
          <p:nvPr/>
        </p:nvSpPr>
        <p:spPr>
          <a:xfrm>
            <a:off x="3977640" y="473659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pruebas automatizadas</a:t>
            </a:r>
            <a:endParaRPr lang="en-US" sz="1200" dirty="0"/>
          </a:p>
        </p:txBody>
      </p:sp>
      <p:sp>
        <p:nvSpPr>
          <p:cNvPr id="29" name="tech-6"/>
          <p:cNvSpPr/>
          <p:nvPr/>
        </p:nvSpPr>
        <p:spPr>
          <a:xfrm>
            <a:off x="548640" y="5212080"/>
            <a:ext cx="3063240" cy="731520"/>
          </a:xfrm>
          <a:prstGeom prst="roundRect">
            <a:avLst>
              <a:gd name="adj" fmla="val 15000"/>
            </a:avLst>
          </a:prstGeom>
          <a:solidFill>
            <a:schemeClr val="bg2"/>
          </a:solidFill>
          <a:ln/>
        </p:spPr>
      </p:sp>
      <p:sp>
        <p:nvSpPr>
          <p:cNvPr id="30" name="Text 28"/>
          <p:cNvSpPr txBox="1"/>
          <p:nvPr/>
        </p:nvSpPr>
        <p:spPr>
          <a:xfrm>
            <a:off x="731520" y="5285232"/>
            <a:ext cx="2743200" cy="320040"/>
          </a:xfrm>
          <a:prstGeom prst="rect">
            <a:avLst/>
          </a:prstGeom>
          <a:noFill/>
          <a:ln/>
        </p:spPr>
        <p:txBody>
          <a:bodyPr wrap="square" lIns="0" tIns="0" rIns="0" bIns="0" rtlCol="0" anchor="t"/>
          <a:lstStyle/>
          <a:p>
            <a:pPr indent="0" marL="0">
              <a:buNone/>
            </a:pPr>
            <a:r>
              <a:rPr lang="en-US" sz="1500" b="1" dirty="0">
                <a:solidFill>
                  <a:schemeClr val="tx2"/>
                </a:solidFill>
              </a:rPr>
              <a:t>Git + GitHub</a:t>
            </a:r>
            <a:endParaRPr lang="en-US" sz="1500" dirty="0"/>
          </a:p>
        </p:txBody>
      </p:sp>
      <p:sp>
        <p:nvSpPr>
          <p:cNvPr id="31" name="Text 29"/>
          <p:cNvSpPr txBox="1"/>
          <p:nvPr/>
        </p:nvSpPr>
        <p:spPr>
          <a:xfrm>
            <a:off x="731520" y="560527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control de versiones</a:t>
            </a:r>
            <a:endParaRPr lang="en-US" sz="1200" dirty="0"/>
          </a:p>
        </p:txBody>
      </p:sp>
      <p:sp>
        <p:nvSpPr>
          <p:cNvPr id="32" name="tech-7"/>
          <p:cNvSpPr/>
          <p:nvPr/>
        </p:nvSpPr>
        <p:spPr>
          <a:xfrm>
            <a:off x="3794760" y="5212080"/>
            <a:ext cx="3063240" cy="731520"/>
          </a:xfrm>
          <a:prstGeom prst="roundRect">
            <a:avLst>
              <a:gd name="adj" fmla="val 15000"/>
            </a:avLst>
          </a:prstGeom>
          <a:solidFill>
            <a:schemeClr val="bg2"/>
          </a:solidFill>
          <a:ln/>
        </p:spPr>
      </p:sp>
      <p:sp>
        <p:nvSpPr>
          <p:cNvPr id="33" name="Text 31"/>
          <p:cNvSpPr txBox="1"/>
          <p:nvPr/>
        </p:nvSpPr>
        <p:spPr>
          <a:xfrm>
            <a:off x="3977640" y="5285232"/>
            <a:ext cx="2743200" cy="320040"/>
          </a:xfrm>
          <a:prstGeom prst="rect">
            <a:avLst/>
          </a:prstGeom>
          <a:noFill/>
          <a:ln/>
        </p:spPr>
        <p:txBody>
          <a:bodyPr wrap="square" lIns="0" tIns="0" rIns="0" bIns="0" rtlCol="0" anchor="t"/>
          <a:lstStyle/>
          <a:p>
            <a:pPr indent="0" marL="0">
              <a:buNone/>
            </a:pPr>
            <a:r>
              <a:rPr lang="en-US" sz="1500" b="1" dirty="0">
                <a:solidFill>
                  <a:schemeClr val="tx2"/>
                </a:solidFill>
              </a:rPr>
              <a:t>Sonner</a:t>
            </a:r>
            <a:endParaRPr lang="en-US" sz="1500" dirty="0"/>
          </a:p>
        </p:txBody>
      </p:sp>
      <p:sp>
        <p:nvSpPr>
          <p:cNvPr id="34" name="Text 32"/>
          <p:cNvSpPr txBox="1"/>
          <p:nvPr/>
        </p:nvSpPr>
        <p:spPr>
          <a:xfrm>
            <a:off x="3977640" y="5605272"/>
            <a:ext cx="2743200" cy="274320"/>
          </a:xfrm>
          <a:prstGeom prst="rect">
            <a:avLst/>
          </a:prstGeom>
          <a:noFill/>
          <a:ln/>
        </p:spPr>
        <p:txBody>
          <a:bodyPr wrap="square" lIns="0" tIns="0" rIns="0" bIns="0" rtlCol="0" anchor="t"/>
          <a:lstStyle/>
          <a:p>
            <a:pPr indent="0" marL="0">
              <a:buNone/>
            </a:pPr>
            <a:r>
              <a:rPr lang="en-US" sz="1200" dirty="0">
                <a:solidFill>
                  <a:schemeClr val="accent6"/>
                </a:solidFill>
              </a:rPr>
              <a:t>notificaciones visuales</a:t>
            </a:r>
            <a:endParaRPr lang="en-US" sz="1200" dirty="0"/>
          </a:p>
        </p:txBody>
      </p:sp>
      <p:sp>
        <p:nvSpPr>
          <p:cNvPr id="35" name="ia"/>
          <p:cNvSpPr/>
          <p:nvPr/>
        </p:nvSpPr>
        <p:spPr>
          <a:xfrm>
            <a:off x="7269480" y="2606040"/>
            <a:ext cx="4343400" cy="3429000"/>
          </a:xfrm>
          <a:prstGeom prst="roundRect">
            <a:avLst>
              <a:gd name="adj" fmla="val 3200"/>
            </a:avLst>
          </a:prstGeom>
          <a:solidFill>
            <a:schemeClr val="tx2"/>
          </a:solidFill>
          <a:ln/>
        </p:spPr>
      </p:sp>
      <p:sp>
        <p:nvSpPr>
          <p:cNvPr id="36" name="circle-ia"/>
          <p:cNvSpPr/>
          <p:nvPr/>
        </p:nvSpPr>
        <p:spPr>
          <a:xfrm>
            <a:off x="7498080" y="2788920"/>
            <a:ext cx="548640" cy="548640"/>
          </a:xfrm>
          <a:prstGeom prst="ellipse">
            <a:avLst/>
          </a:prstGeom>
          <a:solidFill>
            <a:schemeClr val="accent1"/>
          </a:solidFill>
          <a:ln/>
        </p:spPr>
      </p:sp>
      <p:pic>
        <p:nvPicPr>
          <p:cNvPr id="37" name="icon-ia" descr="LuBot">    </p:cNvPr>
          <p:cNvPicPr>
            <a:picLocks noChangeAspect="1"/>
          </p:cNvPicPr>
          <p:nvPr/>
        </p:nvPicPr>
        <p:blipFill>
          <a:blip r:embed="rId1"/>
          <a:stretch>
            <a:fillRect/>
          </a:stretch>
        </p:blipFill>
        <p:spPr>
          <a:xfrm>
            <a:off x="7629754" y="2920594"/>
            <a:ext cx="285293" cy="285293"/>
          </a:xfrm>
          <a:prstGeom prst="rect">
            <a:avLst/>
          </a:prstGeom>
        </p:spPr>
      </p:pic>
      <p:sp>
        <p:nvSpPr>
          <p:cNvPr id="38" name="Text 35"/>
          <p:cNvSpPr txBox="1"/>
          <p:nvPr/>
        </p:nvSpPr>
        <p:spPr>
          <a:xfrm>
            <a:off x="8183880" y="2788920"/>
            <a:ext cx="3291840" cy="548640"/>
          </a:xfrm>
          <a:prstGeom prst="rect">
            <a:avLst/>
          </a:prstGeom>
          <a:noFill/>
          <a:ln/>
        </p:spPr>
        <p:txBody>
          <a:bodyPr wrap="square" lIns="0" tIns="0" rIns="0" bIns="0" rtlCol="0" anchor="ctr"/>
          <a:lstStyle/>
          <a:p>
            <a:pPr indent="0" marL="0">
              <a:buNone/>
            </a:pPr>
            <a:r>
              <a:rPr lang="en-US" sz="1800" b="1" dirty="0">
                <a:solidFill>
                  <a:schemeClr val="bg1"/>
                </a:solidFill>
              </a:rPr>
              <a:t>Uso de IA (registrado)</a:t>
            </a:r>
            <a:endParaRPr lang="en-US" sz="1800" dirty="0"/>
          </a:p>
        </p:txBody>
      </p:sp>
      <p:sp>
        <p:nvSpPr>
          <p:cNvPr id="39" name="Text 36"/>
          <p:cNvSpPr txBox="1"/>
          <p:nvPr/>
        </p:nvSpPr>
        <p:spPr>
          <a:xfrm>
            <a:off x="7498080" y="3520440"/>
            <a:ext cx="3931920" cy="2423160"/>
          </a:xfrm>
          <a:prstGeom prst="rect">
            <a:avLst/>
          </a:prstGeom>
          <a:noFill/>
          <a:ln/>
        </p:spPr>
        <p:txBody>
          <a:bodyPr wrap="square" lIns="0" tIns="0" rIns="0" bIns="0" rtlCol="0" anchor="t"/>
          <a:lstStyle/>
          <a:p>
            <a:pPr indent="0" marL="0">
              <a:spcAft>
                <a:spcPts val="1200"/>
              </a:spcAft>
              <a:buNone/>
            </a:pPr>
            <a:r>
              <a:rPr lang="en-US" sz="1600" b="1" dirty="0">
                <a:solidFill>
                  <a:schemeClr val="accent1"/>
                </a:solidFill>
              </a:rPr>
              <a:t>Lovable: </a:t>
            </a:r>
            <a:pPr indent="0" marL="0">
              <a:spcAft>
                <a:spcPts val="1200"/>
              </a:spcAft>
              <a:buNone/>
            </a:pPr>
            <a:r>
              <a:rPr lang="en-US" sz="1600" dirty="0">
                <a:solidFill>
                  <a:schemeClr val="bg1"/>
                </a:solidFill>
              </a:rPr>
              <a:t>generó la base visual y la navegación.</a:t>
            </a:r>
            <a:endParaRPr lang="en-US" sz="1600" dirty="0"/>
          </a:p>
          <a:p>
            <a:pPr indent="0" marL="0">
              <a:spcAft>
                <a:spcPts val="1200"/>
              </a:spcAft>
              <a:buNone/>
            </a:pPr>
            <a:r>
              <a:rPr lang="en-US" sz="1600" b="1" dirty="0">
                <a:solidFill>
                  <a:schemeClr val="accent1"/>
                </a:solidFill>
              </a:rPr>
              <a:t>Claude Code: </a:t>
            </a:r>
            <a:pPr indent="0" marL="0">
              <a:spcAft>
                <a:spcPts val="1200"/>
              </a:spcAft>
              <a:buNone/>
            </a:pPr>
            <a:r>
              <a:rPr lang="en-US" sz="1600" dirty="0">
                <a:solidFill>
                  <a:schemeClr val="bg1"/>
                </a:solidFill>
              </a:rPr>
              <a:t>revisó el proyecto, completó pantallas, reforzó validaciones y escribió pruebas.</a:t>
            </a:r>
            <a:endParaRPr lang="en-US" sz="1600" dirty="0"/>
          </a:p>
          <a:p>
            <a:pPr indent="0" marL="0">
              <a:spcAft>
                <a:spcPts val="1200"/>
              </a:spcAft>
              <a:buNone/>
            </a:pPr>
            <a:r>
              <a:rPr lang="en-US" sz="1600" i="1" dirty="0">
                <a:solidFill>
                  <a:schemeClr val="bg2"/>
                </a:solidFill>
              </a:rPr>
              <a:t>La IA propone, el equipo valida: chequeo de tipos, pruebas y revisión manual por rol.</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Demostración en vivo</a:t>
            </a:r>
            <a:endParaRPr lang="en-US" sz="3400" dirty="0"/>
          </a:p>
        </p:txBody>
      </p:sp>
      <p:sp>
        <p:nvSpPr>
          <p:cNvPr id="3" name="circle-flow-0"/>
          <p:cNvSpPr/>
          <p:nvPr/>
        </p:nvSpPr>
        <p:spPr>
          <a:xfrm>
            <a:off x="1051560" y="1554480"/>
            <a:ext cx="914400" cy="914400"/>
          </a:xfrm>
          <a:prstGeom prst="ellipse">
            <a:avLst/>
          </a:prstGeom>
          <a:solidFill>
            <a:schemeClr val="accent1"/>
          </a:solidFill>
          <a:ln/>
        </p:spPr>
      </p:sp>
      <p:pic>
        <p:nvPicPr>
          <p:cNvPr id="4" name="icon-flow-0" descr="LuFilePlus2">    </p:cNvPr>
          <p:cNvPicPr>
            <a:picLocks noChangeAspect="1"/>
          </p:cNvPicPr>
          <p:nvPr/>
        </p:nvPicPr>
        <p:blipFill>
          <a:blip r:embed="rId1"/>
          <a:stretch>
            <a:fillRect/>
          </a:stretch>
        </p:blipFill>
        <p:spPr>
          <a:xfrm>
            <a:off x="1271016" y="1773936"/>
            <a:ext cx="475488" cy="475488"/>
          </a:xfrm>
          <a:prstGeom prst="rect">
            <a:avLst/>
          </a:prstGeom>
        </p:spPr>
      </p:pic>
      <p:sp>
        <p:nvSpPr>
          <p:cNvPr id="5" name="Text 2"/>
          <p:cNvSpPr txBox="1"/>
          <p:nvPr/>
        </p:nvSpPr>
        <p:spPr>
          <a:xfrm>
            <a:off x="640080" y="2606040"/>
            <a:ext cx="1737360" cy="411480"/>
          </a:xfrm>
          <a:prstGeom prst="rect">
            <a:avLst/>
          </a:prstGeom>
          <a:noFill/>
          <a:ln/>
        </p:spPr>
        <p:txBody>
          <a:bodyPr wrap="square" lIns="0" tIns="0" rIns="0" bIns="0" rtlCol="0" anchor="t"/>
          <a:lstStyle/>
          <a:p>
            <a:pPr algn="ctr" indent="0" marL="0">
              <a:buNone/>
            </a:pPr>
            <a:r>
              <a:rPr lang="en-US" sz="1800" b="1" dirty="0">
                <a:solidFill>
                  <a:schemeClr val="bg1"/>
                </a:solidFill>
              </a:rPr>
              <a:t>Registrar</a:t>
            </a:r>
            <a:endParaRPr lang="en-US" sz="1800" dirty="0"/>
          </a:p>
        </p:txBody>
      </p:sp>
      <p:sp>
        <p:nvSpPr>
          <p:cNvPr id="6" name="flow-arrow-0"/>
          <p:cNvSpPr/>
          <p:nvPr/>
        </p:nvSpPr>
        <p:spPr>
          <a:xfrm>
            <a:off x="2057400" y="2011680"/>
            <a:ext cx="777240" cy="0"/>
          </a:xfrm>
          <a:prstGeom prst="line">
            <a:avLst/>
          </a:prstGeom>
          <a:noFill/>
          <a:ln w="19050">
            <a:solidFill>
              <a:schemeClr val="bg2"/>
            </a:solidFill>
            <a:prstDash val="dash"/>
            <a:tailEnd type="triangle"/>
          </a:ln>
        </p:spPr>
      </p:sp>
      <p:sp>
        <p:nvSpPr>
          <p:cNvPr id="7" name="circle-flow-1"/>
          <p:cNvSpPr/>
          <p:nvPr/>
        </p:nvSpPr>
        <p:spPr>
          <a:xfrm>
            <a:off x="2926080" y="1554480"/>
            <a:ext cx="914400" cy="914400"/>
          </a:xfrm>
          <a:prstGeom prst="ellipse">
            <a:avLst/>
          </a:prstGeom>
          <a:solidFill>
            <a:schemeClr val="accent1"/>
          </a:solidFill>
          <a:ln/>
        </p:spPr>
      </p:sp>
      <p:pic>
        <p:nvPicPr>
          <p:cNvPr id="8" name="icon-flow-1" descr="LuSearch">    </p:cNvPr>
          <p:cNvPicPr>
            <a:picLocks noChangeAspect="1"/>
          </p:cNvPicPr>
          <p:nvPr/>
        </p:nvPicPr>
        <p:blipFill>
          <a:blip r:embed="rId2"/>
          <a:stretch>
            <a:fillRect/>
          </a:stretch>
        </p:blipFill>
        <p:spPr>
          <a:xfrm>
            <a:off x="3145536" y="1773936"/>
            <a:ext cx="475488" cy="475488"/>
          </a:xfrm>
          <a:prstGeom prst="rect">
            <a:avLst/>
          </a:prstGeom>
        </p:spPr>
      </p:pic>
      <p:sp>
        <p:nvSpPr>
          <p:cNvPr id="9" name="Text 5"/>
          <p:cNvSpPr txBox="1"/>
          <p:nvPr/>
        </p:nvSpPr>
        <p:spPr>
          <a:xfrm>
            <a:off x="2514600" y="2606040"/>
            <a:ext cx="1737360" cy="411480"/>
          </a:xfrm>
          <a:prstGeom prst="rect">
            <a:avLst/>
          </a:prstGeom>
          <a:noFill/>
          <a:ln/>
        </p:spPr>
        <p:txBody>
          <a:bodyPr wrap="square" lIns="0" tIns="0" rIns="0" bIns="0" rtlCol="0" anchor="t"/>
          <a:lstStyle/>
          <a:p>
            <a:pPr algn="ctr" indent="0" marL="0">
              <a:buNone/>
            </a:pPr>
            <a:r>
              <a:rPr lang="en-US" sz="1800" b="1" dirty="0">
                <a:solidFill>
                  <a:schemeClr val="bg1"/>
                </a:solidFill>
              </a:rPr>
              <a:t>Revisar</a:t>
            </a:r>
            <a:endParaRPr lang="en-US" sz="1800" dirty="0"/>
          </a:p>
        </p:txBody>
      </p:sp>
      <p:sp>
        <p:nvSpPr>
          <p:cNvPr id="10" name="flow-arrow-1"/>
          <p:cNvSpPr/>
          <p:nvPr/>
        </p:nvSpPr>
        <p:spPr>
          <a:xfrm>
            <a:off x="3931920" y="2011680"/>
            <a:ext cx="777240" cy="0"/>
          </a:xfrm>
          <a:prstGeom prst="line">
            <a:avLst/>
          </a:prstGeom>
          <a:noFill/>
          <a:ln w="19050">
            <a:solidFill>
              <a:schemeClr val="bg2"/>
            </a:solidFill>
            <a:prstDash val="dash"/>
            <a:tailEnd type="triangle"/>
          </a:ln>
        </p:spPr>
      </p:sp>
      <p:sp>
        <p:nvSpPr>
          <p:cNvPr id="11" name="circle-flow-2"/>
          <p:cNvSpPr/>
          <p:nvPr/>
        </p:nvSpPr>
        <p:spPr>
          <a:xfrm>
            <a:off x="4800600" y="1554480"/>
            <a:ext cx="914400" cy="914400"/>
          </a:xfrm>
          <a:prstGeom prst="ellipse">
            <a:avLst/>
          </a:prstGeom>
          <a:solidFill>
            <a:schemeClr val="accent1"/>
          </a:solidFill>
          <a:ln/>
        </p:spPr>
      </p:sp>
      <p:pic>
        <p:nvPicPr>
          <p:cNvPr id="12" name="icon-flow-2" descr="LuTriangleAlert">    </p:cNvPr>
          <p:cNvPicPr>
            <a:picLocks noChangeAspect="1"/>
          </p:cNvPicPr>
          <p:nvPr/>
        </p:nvPicPr>
        <p:blipFill>
          <a:blip r:embed="rId3"/>
          <a:stretch>
            <a:fillRect/>
          </a:stretch>
        </p:blipFill>
        <p:spPr>
          <a:xfrm>
            <a:off x="5020056" y="1773936"/>
            <a:ext cx="475488" cy="475488"/>
          </a:xfrm>
          <a:prstGeom prst="rect">
            <a:avLst/>
          </a:prstGeom>
        </p:spPr>
      </p:pic>
      <p:sp>
        <p:nvSpPr>
          <p:cNvPr id="13" name="Text 8"/>
          <p:cNvSpPr txBox="1"/>
          <p:nvPr/>
        </p:nvSpPr>
        <p:spPr>
          <a:xfrm>
            <a:off x="4389120" y="2606040"/>
            <a:ext cx="1737360" cy="411480"/>
          </a:xfrm>
          <a:prstGeom prst="rect">
            <a:avLst/>
          </a:prstGeom>
          <a:noFill/>
          <a:ln/>
        </p:spPr>
        <p:txBody>
          <a:bodyPr wrap="square" lIns="0" tIns="0" rIns="0" bIns="0" rtlCol="0" anchor="t"/>
          <a:lstStyle/>
          <a:p>
            <a:pPr algn="ctr" indent="0" marL="0">
              <a:buNone/>
            </a:pPr>
            <a:r>
              <a:rPr lang="en-US" sz="1800" b="1" dirty="0">
                <a:solidFill>
                  <a:schemeClr val="bg1"/>
                </a:solidFill>
              </a:rPr>
              <a:t>Observar</a:t>
            </a:r>
            <a:endParaRPr lang="en-US" sz="1800" dirty="0"/>
          </a:p>
        </p:txBody>
      </p:sp>
      <p:sp>
        <p:nvSpPr>
          <p:cNvPr id="14" name="flow-arrow-2"/>
          <p:cNvSpPr/>
          <p:nvPr/>
        </p:nvSpPr>
        <p:spPr>
          <a:xfrm>
            <a:off x="5806440" y="2011680"/>
            <a:ext cx="777240" cy="0"/>
          </a:xfrm>
          <a:prstGeom prst="line">
            <a:avLst/>
          </a:prstGeom>
          <a:noFill/>
          <a:ln w="19050">
            <a:solidFill>
              <a:schemeClr val="bg2"/>
            </a:solidFill>
            <a:prstDash val="dash"/>
            <a:tailEnd type="triangle"/>
          </a:ln>
        </p:spPr>
      </p:sp>
      <p:sp>
        <p:nvSpPr>
          <p:cNvPr id="15" name="circle-flow-3"/>
          <p:cNvSpPr/>
          <p:nvPr/>
        </p:nvSpPr>
        <p:spPr>
          <a:xfrm>
            <a:off x="6675120" y="1554480"/>
            <a:ext cx="914400" cy="914400"/>
          </a:xfrm>
          <a:prstGeom prst="ellipse">
            <a:avLst/>
          </a:prstGeom>
          <a:solidFill>
            <a:schemeClr val="accent1"/>
          </a:solidFill>
          <a:ln/>
        </p:spPr>
      </p:sp>
      <p:pic>
        <p:nvPicPr>
          <p:cNvPr id="16" name="icon-flow-3" descr="LuPencilLine">    </p:cNvPr>
          <p:cNvPicPr>
            <a:picLocks noChangeAspect="1"/>
          </p:cNvPicPr>
          <p:nvPr/>
        </p:nvPicPr>
        <p:blipFill>
          <a:blip r:embed="rId4"/>
          <a:stretch>
            <a:fillRect/>
          </a:stretch>
        </p:blipFill>
        <p:spPr>
          <a:xfrm>
            <a:off x="6894576" y="1773936"/>
            <a:ext cx="475488" cy="475488"/>
          </a:xfrm>
          <a:prstGeom prst="rect">
            <a:avLst/>
          </a:prstGeom>
        </p:spPr>
      </p:pic>
      <p:sp>
        <p:nvSpPr>
          <p:cNvPr id="17" name="Text 11"/>
          <p:cNvSpPr txBox="1"/>
          <p:nvPr/>
        </p:nvSpPr>
        <p:spPr>
          <a:xfrm>
            <a:off x="6263640" y="2606040"/>
            <a:ext cx="1737360" cy="411480"/>
          </a:xfrm>
          <a:prstGeom prst="rect">
            <a:avLst/>
          </a:prstGeom>
          <a:noFill/>
          <a:ln/>
        </p:spPr>
        <p:txBody>
          <a:bodyPr wrap="square" lIns="0" tIns="0" rIns="0" bIns="0" rtlCol="0" anchor="t"/>
          <a:lstStyle/>
          <a:p>
            <a:pPr algn="ctr" indent="0" marL="0">
              <a:buNone/>
            </a:pPr>
            <a:r>
              <a:rPr lang="en-US" sz="1800" b="1" dirty="0">
                <a:solidFill>
                  <a:schemeClr val="bg1"/>
                </a:solidFill>
              </a:rPr>
              <a:t>Corregir</a:t>
            </a:r>
            <a:endParaRPr lang="en-US" sz="1800" dirty="0"/>
          </a:p>
        </p:txBody>
      </p:sp>
      <p:sp>
        <p:nvSpPr>
          <p:cNvPr id="18" name="flow-arrow-3"/>
          <p:cNvSpPr/>
          <p:nvPr/>
        </p:nvSpPr>
        <p:spPr>
          <a:xfrm>
            <a:off x="7680960" y="2011680"/>
            <a:ext cx="777240" cy="0"/>
          </a:xfrm>
          <a:prstGeom prst="line">
            <a:avLst/>
          </a:prstGeom>
          <a:noFill/>
          <a:ln w="19050">
            <a:solidFill>
              <a:schemeClr val="bg2"/>
            </a:solidFill>
            <a:prstDash val="dash"/>
            <a:tailEnd type="triangle"/>
          </a:ln>
        </p:spPr>
      </p:sp>
      <p:sp>
        <p:nvSpPr>
          <p:cNvPr id="19" name="circle-flow-4"/>
          <p:cNvSpPr/>
          <p:nvPr/>
        </p:nvSpPr>
        <p:spPr>
          <a:xfrm>
            <a:off x="8549640" y="1554480"/>
            <a:ext cx="914400" cy="914400"/>
          </a:xfrm>
          <a:prstGeom prst="ellipse">
            <a:avLst/>
          </a:prstGeom>
          <a:solidFill>
            <a:schemeClr val="accent1"/>
          </a:solidFill>
          <a:ln/>
        </p:spPr>
      </p:sp>
      <p:pic>
        <p:nvPicPr>
          <p:cNvPr id="20" name="icon-flow-4" descr="LuCircleCheck">    </p:cNvPr>
          <p:cNvPicPr>
            <a:picLocks noChangeAspect="1"/>
          </p:cNvPicPr>
          <p:nvPr/>
        </p:nvPicPr>
        <p:blipFill>
          <a:blip r:embed="rId5"/>
          <a:stretch>
            <a:fillRect/>
          </a:stretch>
        </p:blipFill>
        <p:spPr>
          <a:xfrm>
            <a:off x="8769096" y="1773936"/>
            <a:ext cx="475488" cy="475488"/>
          </a:xfrm>
          <a:prstGeom prst="rect">
            <a:avLst/>
          </a:prstGeom>
        </p:spPr>
      </p:pic>
      <p:sp>
        <p:nvSpPr>
          <p:cNvPr id="21" name="Text 14"/>
          <p:cNvSpPr txBox="1"/>
          <p:nvPr/>
        </p:nvSpPr>
        <p:spPr>
          <a:xfrm>
            <a:off x="8138160" y="2606040"/>
            <a:ext cx="1737360" cy="411480"/>
          </a:xfrm>
          <a:prstGeom prst="rect">
            <a:avLst/>
          </a:prstGeom>
          <a:noFill/>
          <a:ln/>
        </p:spPr>
        <p:txBody>
          <a:bodyPr wrap="square" lIns="0" tIns="0" rIns="0" bIns="0" rtlCol="0" anchor="t"/>
          <a:lstStyle/>
          <a:p>
            <a:pPr algn="ctr" indent="0" marL="0">
              <a:buNone/>
            </a:pPr>
            <a:r>
              <a:rPr lang="en-US" sz="1800" b="1" dirty="0">
                <a:solidFill>
                  <a:schemeClr val="bg1"/>
                </a:solidFill>
              </a:rPr>
              <a:t>Resolver</a:t>
            </a:r>
            <a:endParaRPr lang="en-US" sz="1800" dirty="0"/>
          </a:p>
        </p:txBody>
      </p:sp>
      <p:sp>
        <p:nvSpPr>
          <p:cNvPr id="22" name="flow-arrow-4"/>
          <p:cNvSpPr/>
          <p:nvPr/>
        </p:nvSpPr>
        <p:spPr>
          <a:xfrm>
            <a:off x="9555480" y="2011680"/>
            <a:ext cx="777240" cy="0"/>
          </a:xfrm>
          <a:prstGeom prst="line">
            <a:avLst/>
          </a:prstGeom>
          <a:noFill/>
          <a:ln w="19050">
            <a:solidFill>
              <a:schemeClr val="bg2"/>
            </a:solidFill>
            <a:prstDash val="dash"/>
            <a:tailEnd type="triangle"/>
          </a:ln>
        </p:spPr>
      </p:sp>
      <p:sp>
        <p:nvSpPr>
          <p:cNvPr id="23" name="circle-flow-5"/>
          <p:cNvSpPr/>
          <p:nvPr/>
        </p:nvSpPr>
        <p:spPr>
          <a:xfrm>
            <a:off x="10424160" y="1554480"/>
            <a:ext cx="914400" cy="914400"/>
          </a:xfrm>
          <a:prstGeom prst="ellipse">
            <a:avLst/>
          </a:prstGeom>
          <a:solidFill>
            <a:schemeClr val="accent1"/>
          </a:solidFill>
          <a:ln/>
        </p:spPr>
      </p:sp>
      <p:pic>
        <p:nvPicPr>
          <p:cNvPr id="24" name="icon-flow-5" descr="LuEye">    </p:cNvPr>
          <p:cNvPicPr>
            <a:picLocks noChangeAspect="1"/>
          </p:cNvPicPr>
          <p:nvPr/>
        </p:nvPicPr>
        <p:blipFill>
          <a:blip r:embed="rId6"/>
          <a:stretch>
            <a:fillRect/>
          </a:stretch>
        </p:blipFill>
        <p:spPr>
          <a:xfrm>
            <a:off x="10643616" y="1773936"/>
            <a:ext cx="475488" cy="475488"/>
          </a:xfrm>
          <a:prstGeom prst="rect">
            <a:avLst/>
          </a:prstGeom>
        </p:spPr>
      </p:pic>
      <p:sp>
        <p:nvSpPr>
          <p:cNvPr id="25" name="Text 17"/>
          <p:cNvSpPr txBox="1"/>
          <p:nvPr/>
        </p:nvSpPr>
        <p:spPr>
          <a:xfrm>
            <a:off x="10012680" y="2606040"/>
            <a:ext cx="1737360" cy="411480"/>
          </a:xfrm>
          <a:prstGeom prst="rect">
            <a:avLst/>
          </a:prstGeom>
          <a:noFill/>
          <a:ln/>
        </p:spPr>
        <p:txBody>
          <a:bodyPr wrap="square" lIns="0" tIns="0" rIns="0" bIns="0" rtlCol="0" anchor="t"/>
          <a:lstStyle/>
          <a:p>
            <a:pPr algn="ctr" indent="0" marL="0">
              <a:buNone/>
            </a:pPr>
            <a:r>
              <a:rPr lang="en-US" sz="1800" b="1" dirty="0">
                <a:solidFill>
                  <a:schemeClr val="bg1"/>
                </a:solidFill>
              </a:rPr>
              <a:t>Consultar</a:t>
            </a:r>
            <a:endParaRPr lang="en-US" sz="1800" dirty="0"/>
          </a:p>
        </p:txBody>
      </p:sp>
      <p:sp>
        <p:nvSpPr>
          <p:cNvPr id="26" name="who-0"/>
          <p:cNvSpPr/>
          <p:nvPr/>
        </p:nvSpPr>
        <p:spPr>
          <a:xfrm>
            <a:off x="548640" y="3749040"/>
            <a:ext cx="5394960" cy="1600200"/>
          </a:xfrm>
          <a:prstGeom prst="roundRect">
            <a:avLst>
              <a:gd name="adj" fmla="val 6857"/>
            </a:avLst>
          </a:prstGeom>
          <a:solidFill>
            <a:schemeClr val="bg1"/>
          </a:solidFill>
          <a:ln/>
        </p:spPr>
      </p:sp>
      <p:sp>
        <p:nvSpPr>
          <p:cNvPr id="27" name="Text 19"/>
          <p:cNvSpPr txBox="1"/>
          <p:nvPr/>
        </p:nvSpPr>
        <p:spPr>
          <a:xfrm>
            <a:off x="868680" y="3931920"/>
            <a:ext cx="4754880" cy="411480"/>
          </a:xfrm>
          <a:prstGeom prst="rect">
            <a:avLst/>
          </a:prstGeom>
          <a:noFill/>
          <a:ln/>
        </p:spPr>
        <p:txBody>
          <a:bodyPr wrap="square" lIns="0" tIns="0" rIns="0" bIns="0" rtlCol="0" anchor="t"/>
          <a:lstStyle/>
          <a:p>
            <a:pPr indent="0" marL="0">
              <a:buNone/>
            </a:pPr>
            <a:r>
              <a:rPr lang="en-US" sz="2000" b="1" dirty="0">
                <a:solidFill>
                  <a:schemeClr val="accent1"/>
                </a:solidFill>
              </a:rPr>
              <a:t>Integrante 3</a:t>
            </a:r>
            <a:endParaRPr lang="en-US" sz="2000" dirty="0"/>
          </a:p>
        </p:txBody>
      </p:sp>
      <p:sp>
        <p:nvSpPr>
          <p:cNvPr id="28" name="Text 20"/>
          <p:cNvSpPr txBox="1"/>
          <p:nvPr/>
        </p:nvSpPr>
        <p:spPr>
          <a:xfrm>
            <a:off x="868680" y="4343400"/>
            <a:ext cx="4754880" cy="365760"/>
          </a:xfrm>
          <a:prstGeom prst="rect">
            <a:avLst/>
          </a:prstGeom>
          <a:noFill/>
          <a:ln/>
        </p:spPr>
        <p:txBody>
          <a:bodyPr wrap="square" lIns="0" tIns="0" rIns="0" bIns="0" rtlCol="0" anchor="t"/>
          <a:lstStyle/>
          <a:p>
            <a:pPr indent="0" marL="0">
              <a:buNone/>
            </a:pPr>
            <a:r>
              <a:rPr lang="en-US" sz="1600" dirty="0">
                <a:solidFill>
                  <a:schemeClr val="tx2"/>
                </a:solidFill>
              </a:rPr>
              <a:t>Rol: Estudiante</a:t>
            </a:r>
            <a:endParaRPr lang="en-US" sz="1600" dirty="0"/>
          </a:p>
        </p:txBody>
      </p:sp>
      <p:sp>
        <p:nvSpPr>
          <p:cNvPr id="29" name="Text 21"/>
          <p:cNvSpPr txBox="1"/>
          <p:nvPr/>
        </p:nvSpPr>
        <p:spPr>
          <a:xfrm>
            <a:off x="868680" y="4754880"/>
            <a:ext cx="4846320" cy="365760"/>
          </a:xfrm>
          <a:prstGeom prst="rect">
            <a:avLst/>
          </a:prstGeom>
          <a:noFill/>
          <a:ln/>
        </p:spPr>
        <p:txBody>
          <a:bodyPr wrap="square" lIns="0" tIns="0" rIns="0" bIns="0" rtlCol="0" anchor="t"/>
          <a:lstStyle/>
          <a:p>
            <a:pPr indent="0" marL="0">
              <a:buNone/>
            </a:pPr>
            <a:r>
              <a:rPr lang="en-US" sz="1300" dirty="0">
                <a:solidFill>
                  <a:schemeClr val="accent6"/>
                </a:solidFill>
                <a:latin typeface="Courier New" pitchFamily="34" charset="0"/>
                <a:ea typeface="Courier New" pitchFamily="34" charset="-122"/>
                <a:cs typeface="Courier New" pitchFamily="34" charset="-120"/>
              </a:rPr>
              <a:t>estudiante@nexusfisi.edu</a:t>
            </a:r>
            <a:endParaRPr lang="en-US" sz="1300" dirty="0"/>
          </a:p>
        </p:txBody>
      </p:sp>
      <p:sp>
        <p:nvSpPr>
          <p:cNvPr id="30" name="who-1"/>
          <p:cNvSpPr/>
          <p:nvPr/>
        </p:nvSpPr>
        <p:spPr>
          <a:xfrm>
            <a:off x="6217920" y="3749040"/>
            <a:ext cx="5394960" cy="1600200"/>
          </a:xfrm>
          <a:prstGeom prst="roundRect">
            <a:avLst>
              <a:gd name="adj" fmla="val 6857"/>
            </a:avLst>
          </a:prstGeom>
          <a:solidFill>
            <a:schemeClr val="bg1"/>
          </a:solidFill>
          <a:ln/>
        </p:spPr>
      </p:sp>
      <p:sp>
        <p:nvSpPr>
          <p:cNvPr id="31" name="Text 23"/>
          <p:cNvSpPr txBox="1"/>
          <p:nvPr/>
        </p:nvSpPr>
        <p:spPr>
          <a:xfrm>
            <a:off x="6537960" y="3931920"/>
            <a:ext cx="4754880" cy="411480"/>
          </a:xfrm>
          <a:prstGeom prst="rect">
            <a:avLst/>
          </a:prstGeom>
          <a:noFill/>
          <a:ln/>
        </p:spPr>
        <p:txBody>
          <a:bodyPr wrap="square" lIns="0" tIns="0" rIns="0" bIns="0" rtlCol="0" anchor="t"/>
          <a:lstStyle/>
          <a:p>
            <a:pPr indent="0" marL="0">
              <a:buNone/>
            </a:pPr>
            <a:r>
              <a:rPr lang="en-US" sz="2000" b="1" dirty="0">
                <a:solidFill>
                  <a:schemeClr val="accent1"/>
                </a:solidFill>
              </a:rPr>
              <a:t>Integrante 4</a:t>
            </a:r>
            <a:endParaRPr lang="en-US" sz="2000" dirty="0"/>
          </a:p>
        </p:txBody>
      </p:sp>
      <p:sp>
        <p:nvSpPr>
          <p:cNvPr id="32" name="Text 24"/>
          <p:cNvSpPr txBox="1"/>
          <p:nvPr/>
        </p:nvSpPr>
        <p:spPr>
          <a:xfrm>
            <a:off x="6537960" y="4343400"/>
            <a:ext cx="4754880" cy="365760"/>
          </a:xfrm>
          <a:prstGeom prst="rect">
            <a:avLst/>
          </a:prstGeom>
          <a:noFill/>
          <a:ln/>
        </p:spPr>
        <p:txBody>
          <a:bodyPr wrap="square" lIns="0" tIns="0" rIns="0" bIns="0" rtlCol="0" anchor="t"/>
          <a:lstStyle/>
          <a:p>
            <a:pPr indent="0" marL="0">
              <a:buNone/>
            </a:pPr>
            <a:r>
              <a:rPr lang="en-US" sz="1600" dirty="0">
                <a:solidFill>
                  <a:schemeClr val="tx2"/>
                </a:solidFill>
              </a:rPr>
              <a:t>Rol: Personal y administrador</a:t>
            </a:r>
            <a:endParaRPr lang="en-US" sz="1600" dirty="0"/>
          </a:p>
        </p:txBody>
      </p:sp>
      <p:sp>
        <p:nvSpPr>
          <p:cNvPr id="33" name="Text 25"/>
          <p:cNvSpPr txBox="1"/>
          <p:nvPr/>
        </p:nvSpPr>
        <p:spPr>
          <a:xfrm>
            <a:off x="6537960" y="4754880"/>
            <a:ext cx="4846320" cy="365760"/>
          </a:xfrm>
          <a:prstGeom prst="rect">
            <a:avLst/>
          </a:prstGeom>
          <a:noFill/>
          <a:ln/>
        </p:spPr>
        <p:txBody>
          <a:bodyPr wrap="square" lIns="0" tIns="0" rIns="0" bIns="0" rtlCol="0" anchor="t"/>
          <a:lstStyle/>
          <a:p>
            <a:pPr indent="0" marL="0">
              <a:buNone/>
            </a:pPr>
            <a:r>
              <a:rPr lang="en-US" sz="1300" dirty="0">
                <a:solidFill>
                  <a:schemeClr val="accent6"/>
                </a:solidFill>
                <a:latin typeface="Courier New" pitchFamily="34" charset="0"/>
                <a:ea typeface="Courier New" pitchFamily="34" charset="-122"/>
                <a:cs typeface="Courier New" pitchFamily="34" charset="-120"/>
              </a:rPr>
              <a:t>personal@nexusfisi.edu · admin@nexusfisi.edu</a:t>
            </a:r>
            <a:endParaRPr lang="en-US" sz="1300" dirty="0"/>
          </a:p>
        </p:txBody>
      </p:sp>
      <p:sp>
        <p:nvSpPr>
          <p:cNvPr id="34" name="Text 26"/>
          <p:cNvSpPr txBox="1"/>
          <p:nvPr/>
        </p:nvSpPr>
        <p:spPr>
          <a:xfrm>
            <a:off x="548640" y="5715000"/>
            <a:ext cx="10972800" cy="365760"/>
          </a:xfrm>
          <a:prstGeom prst="rect">
            <a:avLst/>
          </a:prstGeom>
          <a:noFill/>
          <a:ln/>
        </p:spPr>
        <p:txBody>
          <a:bodyPr wrap="square" lIns="0" tIns="0" rIns="0" bIns="0" rtlCol="0" anchor="t"/>
          <a:lstStyle/>
          <a:p>
            <a:pPr indent="0" marL="0">
              <a:buNone/>
            </a:pPr>
            <a:r>
              <a:rPr lang="en-US" sz="1400" dirty="0">
                <a:solidFill>
                  <a:schemeClr val="bg2"/>
                </a:solidFill>
              </a:rPr>
              <a:t>Acceso de demostración (no es autenticación de producción) · contraseña: demo123</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Próximos pasos</a:t>
            </a:r>
            <a:endParaRPr lang="en-US" sz="3400" dirty="0"/>
          </a:p>
        </p:txBody>
      </p:sp>
      <p:sp>
        <p:nvSpPr>
          <p:cNvPr id="3" name="circle-next-0"/>
          <p:cNvSpPr/>
          <p:nvPr/>
        </p:nvSpPr>
        <p:spPr>
          <a:xfrm>
            <a:off x="548640" y="1417320"/>
            <a:ext cx="548640" cy="548640"/>
          </a:xfrm>
          <a:prstGeom prst="ellipse">
            <a:avLst/>
          </a:prstGeom>
          <a:solidFill>
            <a:schemeClr val="accent1"/>
          </a:solidFill>
          <a:ln/>
        </p:spPr>
      </p:sp>
      <p:pic>
        <p:nvPicPr>
          <p:cNvPr id="4" name="icon-next-0" descr="LuServer">    </p:cNvPr>
          <p:cNvPicPr>
            <a:picLocks noChangeAspect="1"/>
          </p:cNvPicPr>
          <p:nvPr/>
        </p:nvPicPr>
        <p:blipFill>
          <a:blip r:embed="rId1"/>
          <a:stretch>
            <a:fillRect/>
          </a:stretch>
        </p:blipFill>
        <p:spPr>
          <a:xfrm>
            <a:off x="680314" y="1548994"/>
            <a:ext cx="285293" cy="285293"/>
          </a:xfrm>
          <a:prstGeom prst="rect">
            <a:avLst/>
          </a:prstGeom>
        </p:spPr>
      </p:pic>
      <p:sp>
        <p:nvSpPr>
          <p:cNvPr id="5" name="Text 2"/>
          <p:cNvSpPr txBox="1"/>
          <p:nvPr/>
        </p:nvSpPr>
        <p:spPr>
          <a:xfrm>
            <a:off x="1325880" y="1417320"/>
            <a:ext cx="5943600" cy="548640"/>
          </a:xfrm>
          <a:prstGeom prst="rect">
            <a:avLst/>
          </a:prstGeom>
          <a:noFill/>
          <a:ln/>
        </p:spPr>
        <p:txBody>
          <a:bodyPr wrap="square" lIns="0" tIns="0" rIns="0" bIns="0" rtlCol="0" anchor="ctr"/>
          <a:lstStyle/>
          <a:p>
            <a:pPr indent="0" marL="0">
              <a:buNone/>
            </a:pPr>
            <a:r>
              <a:rPr lang="en-US" sz="1800" dirty="0">
                <a:solidFill>
                  <a:schemeClr val="bg1"/>
                </a:solidFill>
              </a:rPr>
              <a:t>API REST con Spring Boot y MySQL</a:t>
            </a:r>
            <a:endParaRPr lang="en-US" sz="1800" dirty="0"/>
          </a:p>
        </p:txBody>
      </p:sp>
      <p:sp>
        <p:nvSpPr>
          <p:cNvPr id="6" name="circle-next-1"/>
          <p:cNvSpPr/>
          <p:nvPr/>
        </p:nvSpPr>
        <p:spPr>
          <a:xfrm>
            <a:off x="548640" y="2194560"/>
            <a:ext cx="548640" cy="548640"/>
          </a:xfrm>
          <a:prstGeom prst="ellipse">
            <a:avLst/>
          </a:prstGeom>
          <a:solidFill>
            <a:schemeClr val="accent1"/>
          </a:solidFill>
          <a:ln/>
        </p:spPr>
      </p:sp>
      <p:pic>
        <p:nvPicPr>
          <p:cNvPr id="7" name="icon-next-1" descr="LuLock">    </p:cNvPr>
          <p:cNvPicPr>
            <a:picLocks noChangeAspect="1"/>
          </p:cNvPicPr>
          <p:nvPr/>
        </p:nvPicPr>
        <p:blipFill>
          <a:blip r:embed="rId2"/>
          <a:stretch>
            <a:fillRect/>
          </a:stretch>
        </p:blipFill>
        <p:spPr>
          <a:xfrm>
            <a:off x="680314" y="2326234"/>
            <a:ext cx="285293" cy="285293"/>
          </a:xfrm>
          <a:prstGeom prst="rect">
            <a:avLst/>
          </a:prstGeom>
        </p:spPr>
      </p:pic>
      <p:sp>
        <p:nvSpPr>
          <p:cNvPr id="8" name="Text 4"/>
          <p:cNvSpPr txBox="1"/>
          <p:nvPr/>
        </p:nvSpPr>
        <p:spPr>
          <a:xfrm>
            <a:off x="1325880" y="2194560"/>
            <a:ext cx="5943600" cy="548640"/>
          </a:xfrm>
          <a:prstGeom prst="rect">
            <a:avLst/>
          </a:prstGeom>
          <a:noFill/>
          <a:ln/>
        </p:spPr>
        <p:txBody>
          <a:bodyPr wrap="square" lIns="0" tIns="0" rIns="0" bIns="0" rtlCol="0" anchor="ctr"/>
          <a:lstStyle/>
          <a:p>
            <a:pPr indent="0" marL="0">
              <a:buNone/>
            </a:pPr>
            <a:r>
              <a:rPr lang="en-US" sz="1800" dirty="0">
                <a:solidFill>
                  <a:schemeClr val="bg1"/>
                </a:solidFill>
              </a:rPr>
              <a:t>Autenticación real en lugar del acceso demo</a:t>
            </a:r>
            <a:endParaRPr lang="en-US" sz="1800" dirty="0"/>
          </a:p>
        </p:txBody>
      </p:sp>
      <p:sp>
        <p:nvSpPr>
          <p:cNvPr id="9" name="circle-next-2"/>
          <p:cNvSpPr/>
          <p:nvPr/>
        </p:nvSpPr>
        <p:spPr>
          <a:xfrm>
            <a:off x="548640" y="2971800"/>
            <a:ext cx="548640" cy="548640"/>
          </a:xfrm>
          <a:prstGeom prst="ellipse">
            <a:avLst/>
          </a:prstGeom>
          <a:solidFill>
            <a:schemeClr val="accent1"/>
          </a:solidFill>
          <a:ln/>
        </p:spPr>
      </p:sp>
      <p:pic>
        <p:nvPicPr>
          <p:cNvPr id="10" name="icon-next-2" descr="LuSparkles">    </p:cNvPr>
          <p:cNvPicPr>
            <a:picLocks noChangeAspect="1"/>
          </p:cNvPicPr>
          <p:nvPr/>
        </p:nvPicPr>
        <p:blipFill>
          <a:blip r:embed="rId3"/>
          <a:stretch>
            <a:fillRect/>
          </a:stretch>
        </p:blipFill>
        <p:spPr>
          <a:xfrm>
            <a:off x="680314" y="3103474"/>
            <a:ext cx="285293" cy="285293"/>
          </a:xfrm>
          <a:prstGeom prst="rect">
            <a:avLst/>
          </a:prstGeom>
        </p:spPr>
      </p:pic>
      <p:sp>
        <p:nvSpPr>
          <p:cNvPr id="11" name="Text 6"/>
          <p:cNvSpPr txBox="1"/>
          <p:nvPr/>
        </p:nvSpPr>
        <p:spPr>
          <a:xfrm>
            <a:off x="1325880" y="2971800"/>
            <a:ext cx="5943600" cy="548640"/>
          </a:xfrm>
          <a:prstGeom prst="rect">
            <a:avLst/>
          </a:prstGeom>
          <a:noFill/>
          <a:ln/>
        </p:spPr>
        <p:txBody>
          <a:bodyPr wrap="square" lIns="0" tIns="0" rIns="0" bIns="0" rtlCol="0" anchor="ctr"/>
          <a:lstStyle/>
          <a:p>
            <a:pPr indent="0" marL="0">
              <a:buNone/>
            </a:pPr>
            <a:r>
              <a:rPr lang="en-US" sz="1800" dirty="0">
                <a:solidFill>
                  <a:schemeClr val="bg1"/>
                </a:solidFill>
              </a:rPr>
              <a:t>Asistente que orienta qué trámite elegir</a:t>
            </a:r>
            <a:endParaRPr lang="en-US" sz="1800" dirty="0"/>
          </a:p>
        </p:txBody>
      </p:sp>
      <p:sp>
        <p:nvSpPr>
          <p:cNvPr id="12" name="circle-next-3"/>
          <p:cNvSpPr/>
          <p:nvPr/>
        </p:nvSpPr>
        <p:spPr>
          <a:xfrm>
            <a:off x="548640" y="3749040"/>
            <a:ext cx="548640" cy="548640"/>
          </a:xfrm>
          <a:prstGeom prst="ellipse">
            <a:avLst/>
          </a:prstGeom>
          <a:solidFill>
            <a:schemeClr val="accent1"/>
          </a:solidFill>
          <a:ln/>
        </p:spPr>
      </p:sp>
      <p:pic>
        <p:nvPicPr>
          <p:cNvPr id="13" name="icon-next-3" descr="LuClock">    </p:cNvPr>
          <p:cNvPicPr>
            <a:picLocks noChangeAspect="1"/>
          </p:cNvPicPr>
          <p:nvPr/>
        </p:nvPicPr>
        <p:blipFill>
          <a:blip r:embed="rId4"/>
          <a:stretch>
            <a:fillRect/>
          </a:stretch>
        </p:blipFill>
        <p:spPr>
          <a:xfrm>
            <a:off x="680314" y="3880714"/>
            <a:ext cx="285293" cy="285293"/>
          </a:xfrm>
          <a:prstGeom prst="rect">
            <a:avLst/>
          </a:prstGeom>
        </p:spPr>
      </p:pic>
      <p:sp>
        <p:nvSpPr>
          <p:cNvPr id="14" name="Text 8"/>
          <p:cNvSpPr txBox="1"/>
          <p:nvPr/>
        </p:nvSpPr>
        <p:spPr>
          <a:xfrm>
            <a:off x="1325880" y="3749040"/>
            <a:ext cx="5943600" cy="548640"/>
          </a:xfrm>
          <a:prstGeom prst="rect">
            <a:avLst/>
          </a:prstGeom>
          <a:noFill/>
          <a:ln/>
        </p:spPr>
        <p:txBody>
          <a:bodyPr wrap="square" lIns="0" tIns="0" rIns="0" bIns="0" rtlCol="0" anchor="ctr"/>
          <a:lstStyle/>
          <a:p>
            <a:pPr indent="0" marL="0">
              <a:buNone/>
            </a:pPr>
            <a:r>
              <a:rPr lang="en-US" sz="1800" dirty="0">
                <a:solidFill>
                  <a:schemeClr val="bg1"/>
                </a:solidFill>
              </a:rPr>
              <a:t>Plazo de subsanación y derivación entre oficinas</a:t>
            </a:r>
            <a:endParaRPr lang="en-US" sz="1800" dirty="0"/>
          </a:p>
        </p:txBody>
      </p:sp>
      <p:sp>
        <p:nvSpPr>
          <p:cNvPr id="15" name="circle-next-4"/>
          <p:cNvSpPr/>
          <p:nvPr/>
        </p:nvSpPr>
        <p:spPr>
          <a:xfrm>
            <a:off x="548640" y="4526280"/>
            <a:ext cx="548640" cy="548640"/>
          </a:xfrm>
          <a:prstGeom prst="ellipse">
            <a:avLst/>
          </a:prstGeom>
          <a:solidFill>
            <a:schemeClr val="accent1"/>
          </a:solidFill>
          <a:ln/>
        </p:spPr>
      </p:sp>
      <p:pic>
        <p:nvPicPr>
          <p:cNvPr id="16" name="icon-next-4" descr="LuContainer">    </p:cNvPr>
          <p:cNvPicPr>
            <a:picLocks noChangeAspect="1"/>
          </p:cNvPicPr>
          <p:nvPr/>
        </p:nvPicPr>
        <p:blipFill>
          <a:blip r:embed="rId5"/>
          <a:stretch>
            <a:fillRect/>
          </a:stretch>
        </p:blipFill>
        <p:spPr>
          <a:xfrm>
            <a:off x="680314" y="4657954"/>
            <a:ext cx="285293" cy="285293"/>
          </a:xfrm>
          <a:prstGeom prst="rect">
            <a:avLst/>
          </a:prstGeom>
        </p:spPr>
      </p:pic>
      <p:sp>
        <p:nvSpPr>
          <p:cNvPr id="17" name="Text 10"/>
          <p:cNvSpPr txBox="1"/>
          <p:nvPr/>
        </p:nvSpPr>
        <p:spPr>
          <a:xfrm>
            <a:off x="1325880" y="4526280"/>
            <a:ext cx="5943600" cy="548640"/>
          </a:xfrm>
          <a:prstGeom prst="rect">
            <a:avLst/>
          </a:prstGeom>
          <a:noFill/>
          <a:ln/>
        </p:spPr>
        <p:txBody>
          <a:bodyPr wrap="square" lIns="0" tIns="0" rIns="0" bIns="0" rtlCol="0" anchor="ctr"/>
          <a:lstStyle/>
          <a:p>
            <a:pPr indent="0" marL="0">
              <a:buNone/>
            </a:pPr>
            <a:r>
              <a:rPr lang="en-US" sz="1800" dirty="0">
                <a:solidFill>
                  <a:schemeClr val="bg1"/>
                </a:solidFill>
              </a:rPr>
              <a:t>Docker, CI/CD y despliegue en la nube</a:t>
            </a:r>
            <a:endParaRPr lang="en-US" sz="1800" dirty="0"/>
          </a:p>
        </p:txBody>
      </p:sp>
      <p:sp>
        <p:nvSpPr>
          <p:cNvPr id="18" name="questions-circle"/>
          <p:cNvSpPr/>
          <p:nvPr/>
        </p:nvSpPr>
        <p:spPr>
          <a:xfrm>
            <a:off x="7955280" y="1554480"/>
            <a:ext cx="3474720" cy="3474720"/>
          </a:xfrm>
          <a:prstGeom prst="ellipse">
            <a:avLst/>
          </a:prstGeom>
          <a:solidFill>
            <a:schemeClr val="accent1"/>
          </a:solidFill>
          <a:ln/>
        </p:spPr>
      </p:sp>
      <p:sp>
        <p:nvSpPr>
          <p:cNvPr id="19" name="Text 12"/>
          <p:cNvSpPr txBox="1"/>
          <p:nvPr/>
        </p:nvSpPr>
        <p:spPr>
          <a:xfrm>
            <a:off x="7955280" y="1554480"/>
            <a:ext cx="3474720" cy="3474720"/>
          </a:xfrm>
          <a:prstGeom prst="rect">
            <a:avLst/>
          </a:prstGeom>
          <a:noFill/>
          <a:ln/>
        </p:spPr>
        <p:txBody>
          <a:bodyPr wrap="square" lIns="0" tIns="0" rIns="0" bIns="0" rtlCol="0" anchor="ctr"/>
          <a:lstStyle/>
          <a:p>
            <a:pPr algn="ctr" indent="0" marL="0">
              <a:buNone/>
            </a:pPr>
            <a:r>
              <a:rPr lang="en-US" sz="3600" b="1" dirty="0">
                <a:solidFill>
                  <a:schemeClr val="bg1"/>
                </a:solidFill>
              </a:rPr>
              <a:t>¿Preguntas?</a:t>
            </a:r>
            <a:endParaRPr lang="en-US" sz="3600" dirty="0"/>
          </a:p>
        </p:txBody>
      </p:sp>
      <p:sp>
        <p:nvSpPr>
          <p:cNvPr id="20" name="Text 13"/>
          <p:cNvSpPr txBox="1"/>
          <p:nvPr/>
        </p:nvSpPr>
        <p:spPr>
          <a:xfrm>
            <a:off x="7498080" y="5394960"/>
            <a:ext cx="4389120" cy="365760"/>
          </a:xfrm>
          <a:prstGeom prst="rect">
            <a:avLst/>
          </a:prstGeom>
          <a:noFill/>
          <a:ln/>
        </p:spPr>
        <p:txBody>
          <a:bodyPr wrap="square" lIns="0" tIns="0" rIns="0" bIns="0" rtlCol="0" anchor="t"/>
          <a:lstStyle/>
          <a:p>
            <a:pPr algn="ctr" indent="0" marL="0">
              <a:buNone/>
            </a:pPr>
            <a:r>
              <a:rPr lang="en-US" sz="1600" dirty="0">
                <a:solidFill>
                  <a:schemeClr val="bg2"/>
                </a:solidFill>
              </a:rPr>
              <a:t>Gracias · Equipo NexusFisi</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NexusFisi">
  <a:themeElements>
    <a:clrScheme name="NexusFisi">
      <a:dk1>
        <a:srgbClr val="1E293B"/>
      </a:dk1>
      <a:lt1>
        <a:srgbClr val="FFFFFF"/>
      </a:lt1>
      <a:dk2>
        <a:srgbClr val="16294A"/>
      </a:dk2>
      <a:lt2>
        <a:srgbClr val="EEF3F7"/>
      </a:lt2>
      <a:accent1>
        <a:srgbClr val="0E9C97"/>
      </a:accent1>
      <a:accent2>
        <a:srgbClr val="16294A"/>
      </a:accent2>
      <a:accent3>
        <a:srgbClr val="D9952B"/>
      </a:accent3>
      <a:accent4>
        <a:srgbClr val="2E9461"/>
      </a:accent4>
      <a:accent5>
        <a:srgbClr val="2F6FB5"/>
      </a:accent5>
      <a:accent6>
        <a:srgbClr val="64748B"/>
      </a:accent6>
      <a:hlink>
        <a:srgbClr val="0E9C97"/>
      </a:hlink>
      <a:folHlink>
        <a:srgbClr val="2F6FB5"/>
      </a:folHlink>
    </a:clrScheme>
    <a:fontScheme name="NexusFis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NexusFisi – Avance del proyecto</dc:title>
  <dc:subject>PptxGenJS Presentation</dc:subject>
  <dc:creator>Equipo NexusFisi</dc:creator>
  <cp:lastModifiedBy>Equipo NexusFisi</cp:lastModifiedBy>
  <cp:revision>1</cp:revision>
  <dcterms:created xsi:type="dcterms:W3CDTF">2026-10-17T07:02:03Z</dcterms:created>
  <dcterms:modified xsi:type="dcterms:W3CDTF">2026-10-17T07:02:03Z</dcterms:modified>
</cp:coreProperties>
</file>